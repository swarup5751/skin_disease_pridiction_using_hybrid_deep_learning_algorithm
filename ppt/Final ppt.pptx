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70" r:id="rId2"/>
    <p:sldId id="271" r:id="rId3"/>
    <p:sldId id="267" r:id="rId4"/>
    <p:sldId id="273" r:id="rId5"/>
    <p:sldId id="295" r:id="rId6"/>
    <p:sldId id="288" r:id="rId7"/>
    <p:sldId id="296" r:id="rId8"/>
    <p:sldId id="277" r:id="rId9"/>
    <p:sldId id="276" r:id="rId10"/>
    <p:sldId id="283" r:id="rId11"/>
    <p:sldId id="275" r:id="rId12"/>
    <p:sldId id="274" r:id="rId13"/>
    <p:sldId id="305" r:id="rId14"/>
    <p:sldId id="308" r:id="rId15"/>
    <p:sldId id="307" r:id="rId16"/>
    <p:sldId id="284" r:id="rId17"/>
    <p:sldId id="298" r:id="rId18"/>
    <p:sldId id="287" r:id="rId19"/>
    <p:sldId id="302" r:id="rId20"/>
    <p:sldId id="301" r:id="rId21"/>
    <p:sldId id="303" r:id="rId22"/>
    <p:sldId id="309" r:id="rId23"/>
    <p:sldId id="299" r:id="rId24"/>
    <p:sldId id="286" r:id="rId25"/>
    <p:sldId id="285" r:id="rId26"/>
    <p:sldId id="292" r:id="rId27"/>
  </p:sldIdLst>
  <p:sldSz cx="9144000" cy="6858000" type="screen4x3"/>
  <p:notesSz cx="6858000" cy="9144000"/>
  <p:embeddedFontLst>
    <p:embeddedFont>
      <p:font typeface="Segoe UI" panose="020B0502040204020203" pitchFamily="34"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38" roundtripDataSignature="AMtx7mhWkRhyvlVRw74fboU9iUIVzPuIO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DC1597-F47B-47D1-9553-0DB563747848}" v="163" dt="2025-11-03T10:55:11.186"/>
    <p1510:client id="{4863856B-9494-4E14-A187-4A352AE39391}" v="11" dt="2025-11-03T11:00:51.005"/>
    <p1510:client id="{50B76528-82E7-4670-BE20-3DFDA6862A7F}" v="7" dt="2025-11-03T19:13:26.366"/>
    <p1510:client id="{64E1FC21-6AB2-467F-9055-13A9F82AEA1B}" v="822" dt="2025-11-03T17:09:41.286"/>
    <p1510:client id="{82027FC9-215B-48BE-BC79-E34080C6BCC0}" v="272" dt="2025-11-03T06:27:04.021"/>
    <p1510:client id="{E49BFA81-C976-4F12-9E8D-5220DE8208A3}" v="666" dt="2025-11-03T09:50:57.3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706"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8"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22f13355470_0_5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22f13355470_0_5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endParaRPr/>
          </a:p>
        </p:txBody>
      </p:sp>
      <p:sp>
        <p:nvSpPr>
          <p:cNvPr id="201" name="Google Shape;201;g22f13355470_0_5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3</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57EB3739-7964-F0F8-5A2C-2BF319DEF2EC}"/>
            </a:ext>
          </a:extLst>
        </p:cNvPr>
        <p:cNvGrpSpPr/>
        <p:nvPr/>
      </p:nvGrpSpPr>
      <p:grpSpPr>
        <a:xfrm>
          <a:off x="0" y="0"/>
          <a:ext cx="0" cy="0"/>
          <a:chOff x="0" y="0"/>
          <a:chExt cx="0" cy="0"/>
        </a:xfrm>
      </p:grpSpPr>
      <p:sp>
        <p:nvSpPr>
          <p:cNvPr id="199" name="Google Shape;199;g22f13355470_0_53:notes">
            <a:extLst>
              <a:ext uri="{FF2B5EF4-FFF2-40B4-BE49-F238E27FC236}">
                <a16:creationId xmlns:a16="http://schemas.microsoft.com/office/drawing/2014/main" id="{E4D89D3E-512D-811A-279C-7FF42E55870B}"/>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22f13355470_0_53:notes">
            <a:extLst>
              <a:ext uri="{FF2B5EF4-FFF2-40B4-BE49-F238E27FC236}">
                <a16:creationId xmlns:a16="http://schemas.microsoft.com/office/drawing/2014/main" id="{490EB3D8-10C2-132B-51F7-D1370E43A1A5}"/>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endParaRPr/>
          </a:p>
        </p:txBody>
      </p:sp>
      <p:sp>
        <p:nvSpPr>
          <p:cNvPr id="201" name="Google Shape;201;g22f13355470_0_53:notes">
            <a:extLst>
              <a:ext uri="{FF2B5EF4-FFF2-40B4-BE49-F238E27FC236}">
                <a16:creationId xmlns:a16="http://schemas.microsoft.com/office/drawing/2014/main" id="{096B159A-FA73-29E4-F882-2A9C49AA4548}"/>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4</a:t>
            </a:fld>
            <a:endParaRPr/>
          </a:p>
        </p:txBody>
      </p:sp>
    </p:spTree>
    <p:extLst>
      <p:ext uri="{BB962C8B-B14F-4D97-AF65-F5344CB8AC3E}">
        <p14:creationId xmlns:p14="http://schemas.microsoft.com/office/powerpoint/2010/main" val="4318144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0AF02E5F-F921-C00B-2DBA-D3F6B08C2096}"/>
            </a:ext>
          </a:extLst>
        </p:cNvPr>
        <p:cNvGrpSpPr/>
        <p:nvPr/>
      </p:nvGrpSpPr>
      <p:grpSpPr>
        <a:xfrm>
          <a:off x="0" y="0"/>
          <a:ext cx="0" cy="0"/>
          <a:chOff x="0" y="0"/>
          <a:chExt cx="0" cy="0"/>
        </a:xfrm>
      </p:grpSpPr>
      <p:sp>
        <p:nvSpPr>
          <p:cNvPr id="199" name="Google Shape;199;g22f13355470_0_53:notes">
            <a:extLst>
              <a:ext uri="{FF2B5EF4-FFF2-40B4-BE49-F238E27FC236}">
                <a16:creationId xmlns:a16="http://schemas.microsoft.com/office/drawing/2014/main" id="{D6C9F66E-970E-A6A4-D545-189422834E20}"/>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22f13355470_0_53:notes">
            <a:extLst>
              <a:ext uri="{FF2B5EF4-FFF2-40B4-BE49-F238E27FC236}">
                <a16:creationId xmlns:a16="http://schemas.microsoft.com/office/drawing/2014/main" id="{73ABD4EA-1467-CE0D-BABB-F30DA368DF2F}"/>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endParaRPr/>
          </a:p>
        </p:txBody>
      </p:sp>
      <p:sp>
        <p:nvSpPr>
          <p:cNvPr id="201" name="Google Shape;201;g22f13355470_0_53:notes">
            <a:extLst>
              <a:ext uri="{FF2B5EF4-FFF2-40B4-BE49-F238E27FC236}">
                <a16:creationId xmlns:a16="http://schemas.microsoft.com/office/drawing/2014/main" id="{632D7327-F8B2-3120-99F5-6AADF29B548D}"/>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5</a:t>
            </a:fld>
            <a:endParaRPr/>
          </a:p>
        </p:txBody>
      </p:sp>
    </p:spTree>
    <p:extLst>
      <p:ext uri="{BB962C8B-B14F-4D97-AF65-F5344CB8AC3E}">
        <p14:creationId xmlns:p14="http://schemas.microsoft.com/office/powerpoint/2010/main" val="9001466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4D496A50-F9A5-AFD0-E508-E363A3F04911}"/>
            </a:ext>
          </a:extLst>
        </p:cNvPr>
        <p:cNvGrpSpPr/>
        <p:nvPr/>
      </p:nvGrpSpPr>
      <p:grpSpPr>
        <a:xfrm>
          <a:off x="0" y="0"/>
          <a:ext cx="0" cy="0"/>
          <a:chOff x="0" y="0"/>
          <a:chExt cx="0" cy="0"/>
        </a:xfrm>
      </p:grpSpPr>
      <p:sp>
        <p:nvSpPr>
          <p:cNvPr id="199" name="Google Shape;199;g22f13355470_0_53:notes">
            <a:extLst>
              <a:ext uri="{FF2B5EF4-FFF2-40B4-BE49-F238E27FC236}">
                <a16:creationId xmlns:a16="http://schemas.microsoft.com/office/drawing/2014/main" id="{36C25BB7-81CE-6FDA-3372-49AF82920235}"/>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22f13355470_0_53:notes">
            <a:extLst>
              <a:ext uri="{FF2B5EF4-FFF2-40B4-BE49-F238E27FC236}">
                <a16:creationId xmlns:a16="http://schemas.microsoft.com/office/drawing/2014/main" id="{ED7A89E7-8661-6866-DD21-F277DC516110}"/>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endParaRPr/>
          </a:p>
        </p:txBody>
      </p:sp>
      <p:sp>
        <p:nvSpPr>
          <p:cNvPr id="201" name="Google Shape;201;g22f13355470_0_53:notes">
            <a:extLst>
              <a:ext uri="{FF2B5EF4-FFF2-40B4-BE49-F238E27FC236}">
                <a16:creationId xmlns:a16="http://schemas.microsoft.com/office/drawing/2014/main" id="{00ADB468-1BD8-195A-C612-3CB58FDEB2F7}"/>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6</a:t>
            </a:fld>
            <a:endParaRPr/>
          </a:p>
        </p:txBody>
      </p:sp>
    </p:spTree>
    <p:extLst>
      <p:ext uri="{BB962C8B-B14F-4D97-AF65-F5344CB8AC3E}">
        <p14:creationId xmlns:p14="http://schemas.microsoft.com/office/powerpoint/2010/main" val="42651077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F29D3C99-3BFA-8F5D-A5AB-671468903D10}"/>
            </a:ext>
          </a:extLst>
        </p:cNvPr>
        <p:cNvGrpSpPr/>
        <p:nvPr/>
      </p:nvGrpSpPr>
      <p:grpSpPr>
        <a:xfrm>
          <a:off x="0" y="0"/>
          <a:ext cx="0" cy="0"/>
          <a:chOff x="0" y="0"/>
          <a:chExt cx="0" cy="0"/>
        </a:xfrm>
      </p:grpSpPr>
      <p:sp>
        <p:nvSpPr>
          <p:cNvPr id="199" name="Google Shape;199;g22f13355470_0_53:notes">
            <a:extLst>
              <a:ext uri="{FF2B5EF4-FFF2-40B4-BE49-F238E27FC236}">
                <a16:creationId xmlns:a16="http://schemas.microsoft.com/office/drawing/2014/main" id="{CA13C41C-69F4-8EDA-5C67-81D5E4F7A62F}"/>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22f13355470_0_53:notes">
            <a:extLst>
              <a:ext uri="{FF2B5EF4-FFF2-40B4-BE49-F238E27FC236}">
                <a16:creationId xmlns:a16="http://schemas.microsoft.com/office/drawing/2014/main" id="{9AA8940F-6F68-E2FA-454A-6CB5E98DD379}"/>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endParaRPr/>
          </a:p>
        </p:txBody>
      </p:sp>
      <p:sp>
        <p:nvSpPr>
          <p:cNvPr id="201" name="Google Shape;201;g22f13355470_0_53:notes">
            <a:extLst>
              <a:ext uri="{FF2B5EF4-FFF2-40B4-BE49-F238E27FC236}">
                <a16:creationId xmlns:a16="http://schemas.microsoft.com/office/drawing/2014/main" id="{6EC2011C-60DA-5D66-1D18-591E1074691B}"/>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7</a:t>
            </a:fld>
            <a:endParaRPr/>
          </a:p>
        </p:txBody>
      </p:sp>
    </p:spTree>
    <p:extLst>
      <p:ext uri="{BB962C8B-B14F-4D97-AF65-F5344CB8AC3E}">
        <p14:creationId xmlns:p14="http://schemas.microsoft.com/office/powerpoint/2010/main" val="1791594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B20CE97F-5725-07BA-2F6E-59B8857BB5FA}"/>
            </a:ext>
          </a:extLst>
        </p:cNvPr>
        <p:cNvGrpSpPr/>
        <p:nvPr/>
      </p:nvGrpSpPr>
      <p:grpSpPr>
        <a:xfrm>
          <a:off x="0" y="0"/>
          <a:ext cx="0" cy="0"/>
          <a:chOff x="0" y="0"/>
          <a:chExt cx="0" cy="0"/>
        </a:xfrm>
      </p:grpSpPr>
      <p:sp>
        <p:nvSpPr>
          <p:cNvPr id="199" name="Google Shape;199;g22f13355470_0_53:notes">
            <a:extLst>
              <a:ext uri="{FF2B5EF4-FFF2-40B4-BE49-F238E27FC236}">
                <a16:creationId xmlns:a16="http://schemas.microsoft.com/office/drawing/2014/main" id="{C4DD7B9C-7FD4-4E8C-6949-8FD694F36C47}"/>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22f13355470_0_53:notes">
            <a:extLst>
              <a:ext uri="{FF2B5EF4-FFF2-40B4-BE49-F238E27FC236}">
                <a16:creationId xmlns:a16="http://schemas.microsoft.com/office/drawing/2014/main" id="{6774741F-3EB9-B3B1-2E6E-15EE41B6841A}"/>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endParaRPr/>
          </a:p>
        </p:txBody>
      </p:sp>
      <p:sp>
        <p:nvSpPr>
          <p:cNvPr id="201" name="Google Shape;201;g22f13355470_0_53:notes">
            <a:extLst>
              <a:ext uri="{FF2B5EF4-FFF2-40B4-BE49-F238E27FC236}">
                <a16:creationId xmlns:a16="http://schemas.microsoft.com/office/drawing/2014/main" id="{37435EFB-7171-F795-53E8-41E8B773CD03}"/>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8</a:t>
            </a:fld>
            <a:endParaRPr/>
          </a:p>
        </p:txBody>
      </p:sp>
    </p:spTree>
    <p:extLst>
      <p:ext uri="{BB962C8B-B14F-4D97-AF65-F5344CB8AC3E}">
        <p14:creationId xmlns:p14="http://schemas.microsoft.com/office/powerpoint/2010/main" val="39471579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99E6424E-F6ED-3E9C-2F26-FC8657FE58AB}"/>
            </a:ext>
          </a:extLst>
        </p:cNvPr>
        <p:cNvGrpSpPr/>
        <p:nvPr/>
      </p:nvGrpSpPr>
      <p:grpSpPr>
        <a:xfrm>
          <a:off x="0" y="0"/>
          <a:ext cx="0" cy="0"/>
          <a:chOff x="0" y="0"/>
          <a:chExt cx="0" cy="0"/>
        </a:xfrm>
      </p:grpSpPr>
      <p:sp>
        <p:nvSpPr>
          <p:cNvPr id="199" name="Google Shape;199;g22f13355470_0_53:notes">
            <a:extLst>
              <a:ext uri="{FF2B5EF4-FFF2-40B4-BE49-F238E27FC236}">
                <a16:creationId xmlns:a16="http://schemas.microsoft.com/office/drawing/2014/main" id="{95E562EE-46F7-4BA2-EFEA-C1F2DA7D0448}"/>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22f13355470_0_53:notes">
            <a:extLst>
              <a:ext uri="{FF2B5EF4-FFF2-40B4-BE49-F238E27FC236}">
                <a16:creationId xmlns:a16="http://schemas.microsoft.com/office/drawing/2014/main" id="{053A95E6-6022-5593-AE5F-E62D04577801}"/>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endParaRPr/>
          </a:p>
        </p:txBody>
      </p:sp>
      <p:sp>
        <p:nvSpPr>
          <p:cNvPr id="201" name="Google Shape;201;g22f13355470_0_53:notes">
            <a:extLst>
              <a:ext uri="{FF2B5EF4-FFF2-40B4-BE49-F238E27FC236}">
                <a16:creationId xmlns:a16="http://schemas.microsoft.com/office/drawing/2014/main" id="{775A4CE9-6BD2-07F4-634B-9BDF7988A8F1}"/>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9</a:t>
            </a:fld>
            <a:endParaRPr/>
          </a:p>
        </p:txBody>
      </p:sp>
    </p:spTree>
    <p:extLst>
      <p:ext uri="{BB962C8B-B14F-4D97-AF65-F5344CB8AC3E}">
        <p14:creationId xmlns:p14="http://schemas.microsoft.com/office/powerpoint/2010/main" val="23934687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FBA456D3-FF90-FA2A-AD84-670FDE5769A0}"/>
            </a:ext>
          </a:extLst>
        </p:cNvPr>
        <p:cNvGrpSpPr/>
        <p:nvPr/>
      </p:nvGrpSpPr>
      <p:grpSpPr>
        <a:xfrm>
          <a:off x="0" y="0"/>
          <a:ext cx="0" cy="0"/>
          <a:chOff x="0" y="0"/>
          <a:chExt cx="0" cy="0"/>
        </a:xfrm>
      </p:grpSpPr>
      <p:sp>
        <p:nvSpPr>
          <p:cNvPr id="199" name="Google Shape;199;g22f13355470_0_53:notes">
            <a:extLst>
              <a:ext uri="{FF2B5EF4-FFF2-40B4-BE49-F238E27FC236}">
                <a16:creationId xmlns:a16="http://schemas.microsoft.com/office/drawing/2014/main" id="{9D45F9C0-3963-35E1-539E-2D1850487ED6}"/>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22f13355470_0_53:notes">
            <a:extLst>
              <a:ext uri="{FF2B5EF4-FFF2-40B4-BE49-F238E27FC236}">
                <a16:creationId xmlns:a16="http://schemas.microsoft.com/office/drawing/2014/main" id="{013C5820-6C91-1D62-3348-53E84DABF891}"/>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endParaRPr/>
          </a:p>
        </p:txBody>
      </p:sp>
      <p:sp>
        <p:nvSpPr>
          <p:cNvPr id="201" name="Google Shape;201;g22f13355470_0_53:notes">
            <a:extLst>
              <a:ext uri="{FF2B5EF4-FFF2-40B4-BE49-F238E27FC236}">
                <a16:creationId xmlns:a16="http://schemas.microsoft.com/office/drawing/2014/main" id="{EE4FE522-D5D0-C62D-39F1-1613C79884DD}"/>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10</a:t>
            </a:fld>
            <a:endParaRPr/>
          </a:p>
        </p:txBody>
      </p:sp>
    </p:spTree>
    <p:extLst>
      <p:ext uri="{BB962C8B-B14F-4D97-AF65-F5344CB8AC3E}">
        <p14:creationId xmlns:p14="http://schemas.microsoft.com/office/powerpoint/2010/main" val="23903544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F93CD1DD-8F12-EB7F-3D35-F5D37C331F0A}"/>
            </a:ext>
          </a:extLst>
        </p:cNvPr>
        <p:cNvGrpSpPr/>
        <p:nvPr/>
      </p:nvGrpSpPr>
      <p:grpSpPr>
        <a:xfrm>
          <a:off x="0" y="0"/>
          <a:ext cx="0" cy="0"/>
          <a:chOff x="0" y="0"/>
          <a:chExt cx="0" cy="0"/>
        </a:xfrm>
      </p:grpSpPr>
      <p:sp>
        <p:nvSpPr>
          <p:cNvPr id="199" name="Google Shape;199;g22f13355470_0_53:notes">
            <a:extLst>
              <a:ext uri="{FF2B5EF4-FFF2-40B4-BE49-F238E27FC236}">
                <a16:creationId xmlns:a16="http://schemas.microsoft.com/office/drawing/2014/main" id="{CD2D0FA8-5F05-1050-5B33-216FC02B6B6F}"/>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22f13355470_0_53:notes">
            <a:extLst>
              <a:ext uri="{FF2B5EF4-FFF2-40B4-BE49-F238E27FC236}">
                <a16:creationId xmlns:a16="http://schemas.microsoft.com/office/drawing/2014/main" id="{C7B2B4AA-0A1F-5659-3463-EB6BC5EA8748}"/>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endParaRPr/>
          </a:p>
        </p:txBody>
      </p:sp>
      <p:sp>
        <p:nvSpPr>
          <p:cNvPr id="201" name="Google Shape;201;g22f13355470_0_53:notes">
            <a:extLst>
              <a:ext uri="{FF2B5EF4-FFF2-40B4-BE49-F238E27FC236}">
                <a16:creationId xmlns:a16="http://schemas.microsoft.com/office/drawing/2014/main" id="{8E2FFBBF-6568-A190-4677-CD0281AC3EC8}"/>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11</a:t>
            </a:fld>
            <a:endParaRPr/>
          </a:p>
        </p:txBody>
      </p:sp>
    </p:spTree>
    <p:extLst>
      <p:ext uri="{BB962C8B-B14F-4D97-AF65-F5344CB8AC3E}">
        <p14:creationId xmlns:p14="http://schemas.microsoft.com/office/powerpoint/2010/main" val="6680232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9B94EE95-7883-FBB7-1753-0B037C89569B}"/>
            </a:ext>
          </a:extLst>
        </p:cNvPr>
        <p:cNvGrpSpPr/>
        <p:nvPr/>
      </p:nvGrpSpPr>
      <p:grpSpPr>
        <a:xfrm>
          <a:off x="0" y="0"/>
          <a:ext cx="0" cy="0"/>
          <a:chOff x="0" y="0"/>
          <a:chExt cx="0" cy="0"/>
        </a:xfrm>
      </p:grpSpPr>
      <p:sp>
        <p:nvSpPr>
          <p:cNvPr id="199" name="Google Shape;199;g22f13355470_0_53:notes">
            <a:extLst>
              <a:ext uri="{FF2B5EF4-FFF2-40B4-BE49-F238E27FC236}">
                <a16:creationId xmlns:a16="http://schemas.microsoft.com/office/drawing/2014/main" id="{0799387A-68C8-EC1F-42A0-B6995DE267E4}"/>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22f13355470_0_53:notes">
            <a:extLst>
              <a:ext uri="{FF2B5EF4-FFF2-40B4-BE49-F238E27FC236}">
                <a16:creationId xmlns:a16="http://schemas.microsoft.com/office/drawing/2014/main" id="{BBF737C9-BA27-91A4-1350-7CE6CD7C1BE2}"/>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endParaRPr/>
          </a:p>
        </p:txBody>
      </p:sp>
      <p:sp>
        <p:nvSpPr>
          <p:cNvPr id="201" name="Google Shape;201;g22f13355470_0_53:notes">
            <a:extLst>
              <a:ext uri="{FF2B5EF4-FFF2-40B4-BE49-F238E27FC236}">
                <a16:creationId xmlns:a16="http://schemas.microsoft.com/office/drawing/2014/main" id="{310FBFD5-AE9A-6F47-C31E-C5C0B0F9F58C}"/>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12</a:t>
            </a:fld>
            <a:endParaRPr/>
          </a:p>
        </p:txBody>
      </p:sp>
    </p:spTree>
    <p:extLst>
      <p:ext uri="{BB962C8B-B14F-4D97-AF65-F5344CB8AC3E}">
        <p14:creationId xmlns:p14="http://schemas.microsoft.com/office/powerpoint/2010/main" val="28929810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25C4C8EA-B297-0981-2306-AE2643FED0C6}"/>
            </a:ext>
          </a:extLst>
        </p:cNvPr>
        <p:cNvGrpSpPr/>
        <p:nvPr/>
      </p:nvGrpSpPr>
      <p:grpSpPr>
        <a:xfrm>
          <a:off x="0" y="0"/>
          <a:ext cx="0" cy="0"/>
          <a:chOff x="0" y="0"/>
          <a:chExt cx="0" cy="0"/>
        </a:xfrm>
      </p:grpSpPr>
      <p:sp>
        <p:nvSpPr>
          <p:cNvPr id="199" name="Google Shape;199;g22f13355470_0_53:notes">
            <a:extLst>
              <a:ext uri="{FF2B5EF4-FFF2-40B4-BE49-F238E27FC236}">
                <a16:creationId xmlns:a16="http://schemas.microsoft.com/office/drawing/2014/main" id="{DE627EAA-A23E-A97F-5ECA-BA6E322B35A5}"/>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22f13355470_0_53:notes">
            <a:extLst>
              <a:ext uri="{FF2B5EF4-FFF2-40B4-BE49-F238E27FC236}">
                <a16:creationId xmlns:a16="http://schemas.microsoft.com/office/drawing/2014/main" id="{813621FA-108D-97AF-7774-351CD7B025EB}"/>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endParaRPr/>
          </a:p>
        </p:txBody>
      </p:sp>
      <p:sp>
        <p:nvSpPr>
          <p:cNvPr id="201" name="Google Shape;201;g22f13355470_0_53:notes">
            <a:extLst>
              <a:ext uri="{FF2B5EF4-FFF2-40B4-BE49-F238E27FC236}">
                <a16:creationId xmlns:a16="http://schemas.microsoft.com/office/drawing/2014/main" id="{94623FAF-8AD5-AA0A-F3C5-2C6D0E6A64C9}"/>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13</a:t>
            </a:fld>
            <a:endParaRPr/>
          </a:p>
        </p:txBody>
      </p:sp>
    </p:spTree>
    <p:extLst>
      <p:ext uri="{BB962C8B-B14F-4D97-AF65-F5344CB8AC3E}">
        <p14:creationId xmlns:p14="http://schemas.microsoft.com/office/powerpoint/2010/main" val="13636931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E9729FC3-419C-D30E-926E-3429F04CC70C}"/>
            </a:ext>
          </a:extLst>
        </p:cNvPr>
        <p:cNvGrpSpPr/>
        <p:nvPr/>
      </p:nvGrpSpPr>
      <p:grpSpPr>
        <a:xfrm>
          <a:off x="0" y="0"/>
          <a:ext cx="0" cy="0"/>
          <a:chOff x="0" y="0"/>
          <a:chExt cx="0" cy="0"/>
        </a:xfrm>
      </p:grpSpPr>
      <p:sp>
        <p:nvSpPr>
          <p:cNvPr id="199" name="Google Shape;199;g22f13355470_0_53:notes">
            <a:extLst>
              <a:ext uri="{FF2B5EF4-FFF2-40B4-BE49-F238E27FC236}">
                <a16:creationId xmlns:a16="http://schemas.microsoft.com/office/drawing/2014/main" id="{A791A65D-ADFA-8E3C-E003-9AB66DDD9E04}"/>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22f13355470_0_53:notes">
            <a:extLst>
              <a:ext uri="{FF2B5EF4-FFF2-40B4-BE49-F238E27FC236}">
                <a16:creationId xmlns:a16="http://schemas.microsoft.com/office/drawing/2014/main" id="{5ECDB538-6E75-E529-1577-3B10A42FE715}"/>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endParaRPr/>
          </a:p>
        </p:txBody>
      </p:sp>
      <p:sp>
        <p:nvSpPr>
          <p:cNvPr id="201" name="Google Shape;201;g22f13355470_0_53:notes">
            <a:extLst>
              <a:ext uri="{FF2B5EF4-FFF2-40B4-BE49-F238E27FC236}">
                <a16:creationId xmlns:a16="http://schemas.microsoft.com/office/drawing/2014/main" id="{9144F5D0-6F77-D6CC-9052-A63B576D9C49}"/>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14</a:t>
            </a:fld>
            <a:endParaRPr/>
          </a:p>
        </p:txBody>
      </p:sp>
    </p:spTree>
    <p:extLst>
      <p:ext uri="{BB962C8B-B14F-4D97-AF65-F5344CB8AC3E}">
        <p14:creationId xmlns:p14="http://schemas.microsoft.com/office/powerpoint/2010/main" val="33154355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72799A3D-A3A8-5BE4-5A74-CCB1A1F23D5C}"/>
            </a:ext>
          </a:extLst>
        </p:cNvPr>
        <p:cNvGrpSpPr/>
        <p:nvPr/>
      </p:nvGrpSpPr>
      <p:grpSpPr>
        <a:xfrm>
          <a:off x="0" y="0"/>
          <a:ext cx="0" cy="0"/>
          <a:chOff x="0" y="0"/>
          <a:chExt cx="0" cy="0"/>
        </a:xfrm>
      </p:grpSpPr>
      <p:sp>
        <p:nvSpPr>
          <p:cNvPr id="199" name="Google Shape;199;g22f13355470_0_53:notes">
            <a:extLst>
              <a:ext uri="{FF2B5EF4-FFF2-40B4-BE49-F238E27FC236}">
                <a16:creationId xmlns:a16="http://schemas.microsoft.com/office/drawing/2014/main" id="{606F7C98-943F-4473-1CB9-3F2EF9E4BCAE}"/>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22f13355470_0_53:notes">
            <a:extLst>
              <a:ext uri="{FF2B5EF4-FFF2-40B4-BE49-F238E27FC236}">
                <a16:creationId xmlns:a16="http://schemas.microsoft.com/office/drawing/2014/main" id="{28DC8959-FF02-5E5C-F9F7-1FE4EDD84B57}"/>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endParaRPr/>
          </a:p>
        </p:txBody>
      </p:sp>
      <p:sp>
        <p:nvSpPr>
          <p:cNvPr id="201" name="Google Shape;201;g22f13355470_0_53:notes">
            <a:extLst>
              <a:ext uri="{FF2B5EF4-FFF2-40B4-BE49-F238E27FC236}">
                <a16:creationId xmlns:a16="http://schemas.microsoft.com/office/drawing/2014/main" id="{0615C724-013A-10EA-5D13-6992E9DC0352}"/>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15</a:t>
            </a:fld>
            <a:endParaRPr/>
          </a:p>
        </p:txBody>
      </p:sp>
    </p:spTree>
    <p:extLst>
      <p:ext uri="{BB962C8B-B14F-4D97-AF65-F5344CB8AC3E}">
        <p14:creationId xmlns:p14="http://schemas.microsoft.com/office/powerpoint/2010/main" val="2828374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BE19AEE2-9F31-29E7-80B2-3E2693964701}"/>
            </a:ext>
          </a:extLst>
        </p:cNvPr>
        <p:cNvGrpSpPr/>
        <p:nvPr/>
      </p:nvGrpSpPr>
      <p:grpSpPr>
        <a:xfrm>
          <a:off x="0" y="0"/>
          <a:ext cx="0" cy="0"/>
          <a:chOff x="0" y="0"/>
          <a:chExt cx="0" cy="0"/>
        </a:xfrm>
      </p:grpSpPr>
      <p:sp>
        <p:nvSpPr>
          <p:cNvPr id="199" name="Google Shape;199;g22f13355470_0_53:notes">
            <a:extLst>
              <a:ext uri="{FF2B5EF4-FFF2-40B4-BE49-F238E27FC236}">
                <a16:creationId xmlns:a16="http://schemas.microsoft.com/office/drawing/2014/main" id="{00B39CDC-02F9-A9E9-F919-F352A8858801}"/>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22f13355470_0_53:notes">
            <a:extLst>
              <a:ext uri="{FF2B5EF4-FFF2-40B4-BE49-F238E27FC236}">
                <a16:creationId xmlns:a16="http://schemas.microsoft.com/office/drawing/2014/main" id="{77A2CCB3-5A54-E4C0-4886-6D3F811DD8EC}"/>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endParaRPr/>
          </a:p>
        </p:txBody>
      </p:sp>
      <p:sp>
        <p:nvSpPr>
          <p:cNvPr id="201" name="Google Shape;201;g22f13355470_0_53:notes">
            <a:extLst>
              <a:ext uri="{FF2B5EF4-FFF2-40B4-BE49-F238E27FC236}">
                <a16:creationId xmlns:a16="http://schemas.microsoft.com/office/drawing/2014/main" id="{AFF36687-57B7-955F-F9B4-479DF4898856}"/>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16</a:t>
            </a:fld>
            <a:endParaRPr/>
          </a:p>
        </p:txBody>
      </p:sp>
    </p:spTree>
    <p:extLst>
      <p:ext uri="{BB962C8B-B14F-4D97-AF65-F5344CB8AC3E}">
        <p14:creationId xmlns:p14="http://schemas.microsoft.com/office/powerpoint/2010/main" val="41381406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75FEDD18-2B01-A7E7-56FD-F2258AAE4196}"/>
            </a:ext>
          </a:extLst>
        </p:cNvPr>
        <p:cNvGrpSpPr/>
        <p:nvPr/>
      </p:nvGrpSpPr>
      <p:grpSpPr>
        <a:xfrm>
          <a:off x="0" y="0"/>
          <a:ext cx="0" cy="0"/>
          <a:chOff x="0" y="0"/>
          <a:chExt cx="0" cy="0"/>
        </a:xfrm>
      </p:grpSpPr>
      <p:sp>
        <p:nvSpPr>
          <p:cNvPr id="199" name="Google Shape;199;g22f13355470_0_53:notes">
            <a:extLst>
              <a:ext uri="{FF2B5EF4-FFF2-40B4-BE49-F238E27FC236}">
                <a16:creationId xmlns:a16="http://schemas.microsoft.com/office/drawing/2014/main" id="{998A9E6A-9798-D021-CCC1-4500B832A31F}"/>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22f13355470_0_53:notes">
            <a:extLst>
              <a:ext uri="{FF2B5EF4-FFF2-40B4-BE49-F238E27FC236}">
                <a16:creationId xmlns:a16="http://schemas.microsoft.com/office/drawing/2014/main" id="{B5179FB2-1DEF-F071-EAD1-C6FB3A267E62}"/>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endParaRPr/>
          </a:p>
        </p:txBody>
      </p:sp>
      <p:sp>
        <p:nvSpPr>
          <p:cNvPr id="201" name="Google Shape;201;g22f13355470_0_53:notes">
            <a:extLst>
              <a:ext uri="{FF2B5EF4-FFF2-40B4-BE49-F238E27FC236}">
                <a16:creationId xmlns:a16="http://schemas.microsoft.com/office/drawing/2014/main" id="{B116BD09-9690-C210-5FFB-51C3AC154419}"/>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17</a:t>
            </a:fld>
            <a:endParaRPr/>
          </a:p>
        </p:txBody>
      </p:sp>
    </p:spTree>
    <p:extLst>
      <p:ext uri="{BB962C8B-B14F-4D97-AF65-F5344CB8AC3E}">
        <p14:creationId xmlns:p14="http://schemas.microsoft.com/office/powerpoint/2010/main" val="19030625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254AB104-DEF1-9C5F-96E7-0E5ADC628266}"/>
            </a:ext>
          </a:extLst>
        </p:cNvPr>
        <p:cNvGrpSpPr/>
        <p:nvPr/>
      </p:nvGrpSpPr>
      <p:grpSpPr>
        <a:xfrm>
          <a:off x="0" y="0"/>
          <a:ext cx="0" cy="0"/>
          <a:chOff x="0" y="0"/>
          <a:chExt cx="0" cy="0"/>
        </a:xfrm>
      </p:grpSpPr>
      <p:sp>
        <p:nvSpPr>
          <p:cNvPr id="199" name="Google Shape;199;g22f13355470_0_53:notes">
            <a:extLst>
              <a:ext uri="{FF2B5EF4-FFF2-40B4-BE49-F238E27FC236}">
                <a16:creationId xmlns:a16="http://schemas.microsoft.com/office/drawing/2014/main" id="{FE86B248-6D1F-014D-4A77-F880A85C9B85}"/>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22f13355470_0_53:notes">
            <a:extLst>
              <a:ext uri="{FF2B5EF4-FFF2-40B4-BE49-F238E27FC236}">
                <a16:creationId xmlns:a16="http://schemas.microsoft.com/office/drawing/2014/main" id="{C35EC272-B850-3CEA-442E-A6D14168F557}"/>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endParaRPr/>
          </a:p>
        </p:txBody>
      </p:sp>
      <p:sp>
        <p:nvSpPr>
          <p:cNvPr id="201" name="Google Shape;201;g22f13355470_0_53:notes">
            <a:extLst>
              <a:ext uri="{FF2B5EF4-FFF2-40B4-BE49-F238E27FC236}">
                <a16:creationId xmlns:a16="http://schemas.microsoft.com/office/drawing/2014/main" id="{D569A70F-9672-B7B3-4999-5AC4A9C77187}"/>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18</a:t>
            </a:fld>
            <a:endParaRPr/>
          </a:p>
        </p:txBody>
      </p:sp>
    </p:spTree>
    <p:extLst>
      <p:ext uri="{BB962C8B-B14F-4D97-AF65-F5344CB8AC3E}">
        <p14:creationId xmlns:p14="http://schemas.microsoft.com/office/powerpoint/2010/main" val="33588799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495789F0-4CD8-72F6-77BD-A46F48991390}"/>
            </a:ext>
          </a:extLst>
        </p:cNvPr>
        <p:cNvGrpSpPr/>
        <p:nvPr/>
      </p:nvGrpSpPr>
      <p:grpSpPr>
        <a:xfrm>
          <a:off x="0" y="0"/>
          <a:ext cx="0" cy="0"/>
          <a:chOff x="0" y="0"/>
          <a:chExt cx="0" cy="0"/>
        </a:xfrm>
      </p:grpSpPr>
      <p:sp>
        <p:nvSpPr>
          <p:cNvPr id="199" name="Google Shape;199;g22f13355470_0_53:notes">
            <a:extLst>
              <a:ext uri="{FF2B5EF4-FFF2-40B4-BE49-F238E27FC236}">
                <a16:creationId xmlns:a16="http://schemas.microsoft.com/office/drawing/2014/main" id="{374D3FF3-DC7C-4CAF-8599-A70BF292FE23}"/>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22f13355470_0_53:notes">
            <a:extLst>
              <a:ext uri="{FF2B5EF4-FFF2-40B4-BE49-F238E27FC236}">
                <a16:creationId xmlns:a16="http://schemas.microsoft.com/office/drawing/2014/main" id="{041C0EC4-893B-7CEF-F635-1893BA238F40}"/>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endParaRPr/>
          </a:p>
        </p:txBody>
      </p:sp>
      <p:sp>
        <p:nvSpPr>
          <p:cNvPr id="201" name="Google Shape;201;g22f13355470_0_53:notes">
            <a:extLst>
              <a:ext uri="{FF2B5EF4-FFF2-40B4-BE49-F238E27FC236}">
                <a16:creationId xmlns:a16="http://schemas.microsoft.com/office/drawing/2014/main" id="{F4BFD8DC-3696-2932-631C-0894A996C6B4}"/>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19</a:t>
            </a:fld>
            <a:endParaRPr/>
          </a:p>
        </p:txBody>
      </p:sp>
    </p:spTree>
    <p:extLst>
      <p:ext uri="{BB962C8B-B14F-4D97-AF65-F5344CB8AC3E}">
        <p14:creationId xmlns:p14="http://schemas.microsoft.com/office/powerpoint/2010/main" val="19948220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99EA6D46-0545-30B8-F1DA-479AF410ECB1}"/>
            </a:ext>
          </a:extLst>
        </p:cNvPr>
        <p:cNvGrpSpPr/>
        <p:nvPr/>
      </p:nvGrpSpPr>
      <p:grpSpPr>
        <a:xfrm>
          <a:off x="0" y="0"/>
          <a:ext cx="0" cy="0"/>
          <a:chOff x="0" y="0"/>
          <a:chExt cx="0" cy="0"/>
        </a:xfrm>
      </p:grpSpPr>
      <p:sp>
        <p:nvSpPr>
          <p:cNvPr id="199" name="Google Shape;199;g22f13355470_0_53:notes">
            <a:extLst>
              <a:ext uri="{FF2B5EF4-FFF2-40B4-BE49-F238E27FC236}">
                <a16:creationId xmlns:a16="http://schemas.microsoft.com/office/drawing/2014/main" id="{ECD7EA97-830A-B941-1031-6EB81095D41D}"/>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22f13355470_0_53:notes">
            <a:extLst>
              <a:ext uri="{FF2B5EF4-FFF2-40B4-BE49-F238E27FC236}">
                <a16:creationId xmlns:a16="http://schemas.microsoft.com/office/drawing/2014/main" id="{68893EDE-6277-FCFB-20EB-13D82C44CC7D}"/>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endParaRPr/>
          </a:p>
        </p:txBody>
      </p:sp>
      <p:sp>
        <p:nvSpPr>
          <p:cNvPr id="201" name="Google Shape;201;g22f13355470_0_53:notes">
            <a:extLst>
              <a:ext uri="{FF2B5EF4-FFF2-40B4-BE49-F238E27FC236}">
                <a16:creationId xmlns:a16="http://schemas.microsoft.com/office/drawing/2014/main" id="{3F216F1F-0AFB-7A85-15A9-088B28A7285D}"/>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20</a:t>
            </a:fld>
            <a:endParaRPr/>
          </a:p>
        </p:txBody>
      </p:sp>
    </p:spTree>
    <p:extLst>
      <p:ext uri="{BB962C8B-B14F-4D97-AF65-F5344CB8AC3E}">
        <p14:creationId xmlns:p14="http://schemas.microsoft.com/office/powerpoint/2010/main" val="5329996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8F5452E9-AE1F-AA78-0B07-C70FC78EA01E}"/>
            </a:ext>
          </a:extLst>
        </p:cNvPr>
        <p:cNvGrpSpPr/>
        <p:nvPr/>
      </p:nvGrpSpPr>
      <p:grpSpPr>
        <a:xfrm>
          <a:off x="0" y="0"/>
          <a:ext cx="0" cy="0"/>
          <a:chOff x="0" y="0"/>
          <a:chExt cx="0" cy="0"/>
        </a:xfrm>
      </p:grpSpPr>
      <p:sp>
        <p:nvSpPr>
          <p:cNvPr id="199" name="Google Shape;199;g22f13355470_0_53:notes">
            <a:extLst>
              <a:ext uri="{FF2B5EF4-FFF2-40B4-BE49-F238E27FC236}">
                <a16:creationId xmlns:a16="http://schemas.microsoft.com/office/drawing/2014/main" id="{75C79B49-0A3E-98AC-F3AF-37BD11899DFA}"/>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22f13355470_0_53:notes">
            <a:extLst>
              <a:ext uri="{FF2B5EF4-FFF2-40B4-BE49-F238E27FC236}">
                <a16:creationId xmlns:a16="http://schemas.microsoft.com/office/drawing/2014/main" id="{23994474-53F3-C994-C657-B7BFCB58A985}"/>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endParaRPr/>
          </a:p>
        </p:txBody>
      </p:sp>
      <p:sp>
        <p:nvSpPr>
          <p:cNvPr id="201" name="Google Shape;201;g22f13355470_0_53:notes">
            <a:extLst>
              <a:ext uri="{FF2B5EF4-FFF2-40B4-BE49-F238E27FC236}">
                <a16:creationId xmlns:a16="http://schemas.microsoft.com/office/drawing/2014/main" id="{A0D78AF0-2E35-CF9C-C380-A59869A6E870}"/>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21</a:t>
            </a:fld>
            <a:endParaRPr/>
          </a:p>
        </p:txBody>
      </p:sp>
    </p:spTree>
    <p:extLst>
      <p:ext uri="{BB962C8B-B14F-4D97-AF65-F5344CB8AC3E}">
        <p14:creationId xmlns:p14="http://schemas.microsoft.com/office/powerpoint/2010/main" val="25616003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38AE44F2-E99C-F65D-0C1B-9A1D0B2FB478}"/>
            </a:ext>
          </a:extLst>
        </p:cNvPr>
        <p:cNvGrpSpPr/>
        <p:nvPr/>
      </p:nvGrpSpPr>
      <p:grpSpPr>
        <a:xfrm>
          <a:off x="0" y="0"/>
          <a:ext cx="0" cy="0"/>
          <a:chOff x="0" y="0"/>
          <a:chExt cx="0" cy="0"/>
        </a:xfrm>
      </p:grpSpPr>
      <p:sp>
        <p:nvSpPr>
          <p:cNvPr id="199" name="Google Shape;199;g22f13355470_0_53:notes">
            <a:extLst>
              <a:ext uri="{FF2B5EF4-FFF2-40B4-BE49-F238E27FC236}">
                <a16:creationId xmlns:a16="http://schemas.microsoft.com/office/drawing/2014/main" id="{C584B401-A957-DD49-7C36-64D416D7AABD}"/>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22f13355470_0_53:notes">
            <a:extLst>
              <a:ext uri="{FF2B5EF4-FFF2-40B4-BE49-F238E27FC236}">
                <a16:creationId xmlns:a16="http://schemas.microsoft.com/office/drawing/2014/main" id="{C132CBFC-1276-D4FE-4B6E-BA1ABC2F4CD8}"/>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endParaRPr/>
          </a:p>
        </p:txBody>
      </p:sp>
      <p:sp>
        <p:nvSpPr>
          <p:cNvPr id="201" name="Google Shape;201;g22f13355470_0_53:notes">
            <a:extLst>
              <a:ext uri="{FF2B5EF4-FFF2-40B4-BE49-F238E27FC236}">
                <a16:creationId xmlns:a16="http://schemas.microsoft.com/office/drawing/2014/main" id="{DAEE4D79-5EA8-1A21-56AB-37D5C719B819}"/>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22</a:t>
            </a:fld>
            <a:endParaRPr/>
          </a:p>
        </p:txBody>
      </p:sp>
    </p:spTree>
    <p:extLst>
      <p:ext uri="{BB962C8B-B14F-4D97-AF65-F5344CB8AC3E}">
        <p14:creationId xmlns:p14="http://schemas.microsoft.com/office/powerpoint/2010/main" val="20304685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15EE438A-E886-4AFD-AB8C-FD20D877B265}"/>
            </a:ext>
          </a:extLst>
        </p:cNvPr>
        <p:cNvGrpSpPr/>
        <p:nvPr/>
      </p:nvGrpSpPr>
      <p:grpSpPr>
        <a:xfrm>
          <a:off x="0" y="0"/>
          <a:ext cx="0" cy="0"/>
          <a:chOff x="0" y="0"/>
          <a:chExt cx="0" cy="0"/>
        </a:xfrm>
      </p:grpSpPr>
      <p:sp>
        <p:nvSpPr>
          <p:cNvPr id="199" name="Google Shape;199;g22f13355470_0_53:notes">
            <a:extLst>
              <a:ext uri="{FF2B5EF4-FFF2-40B4-BE49-F238E27FC236}">
                <a16:creationId xmlns:a16="http://schemas.microsoft.com/office/drawing/2014/main" id="{660C4380-FD82-1855-BB0B-174D917060AD}"/>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22f13355470_0_53:notes">
            <a:extLst>
              <a:ext uri="{FF2B5EF4-FFF2-40B4-BE49-F238E27FC236}">
                <a16:creationId xmlns:a16="http://schemas.microsoft.com/office/drawing/2014/main" id="{6ECCE98D-68FC-6443-CF01-77716BDF7AFB}"/>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endParaRPr/>
          </a:p>
        </p:txBody>
      </p:sp>
      <p:sp>
        <p:nvSpPr>
          <p:cNvPr id="201" name="Google Shape;201;g22f13355470_0_53:notes">
            <a:extLst>
              <a:ext uri="{FF2B5EF4-FFF2-40B4-BE49-F238E27FC236}">
                <a16:creationId xmlns:a16="http://schemas.microsoft.com/office/drawing/2014/main" id="{F0DBFAD5-2EC1-6567-AE7F-F5BD8B02E5AE}"/>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23</a:t>
            </a:fld>
            <a:endParaRPr/>
          </a:p>
        </p:txBody>
      </p:sp>
    </p:spTree>
    <p:extLst>
      <p:ext uri="{BB962C8B-B14F-4D97-AF65-F5344CB8AC3E}">
        <p14:creationId xmlns:p14="http://schemas.microsoft.com/office/powerpoint/2010/main" val="5641322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8B97306F-8A72-0659-628B-C52D69303DF7}"/>
            </a:ext>
          </a:extLst>
        </p:cNvPr>
        <p:cNvGrpSpPr/>
        <p:nvPr/>
      </p:nvGrpSpPr>
      <p:grpSpPr>
        <a:xfrm>
          <a:off x="0" y="0"/>
          <a:ext cx="0" cy="0"/>
          <a:chOff x="0" y="0"/>
          <a:chExt cx="0" cy="0"/>
        </a:xfrm>
      </p:grpSpPr>
      <p:sp>
        <p:nvSpPr>
          <p:cNvPr id="199" name="Google Shape;199;g22f13355470_0_53:notes">
            <a:extLst>
              <a:ext uri="{FF2B5EF4-FFF2-40B4-BE49-F238E27FC236}">
                <a16:creationId xmlns:a16="http://schemas.microsoft.com/office/drawing/2014/main" id="{69085B48-07D9-4E68-B237-99FCCE296651}"/>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22f13355470_0_53:notes">
            <a:extLst>
              <a:ext uri="{FF2B5EF4-FFF2-40B4-BE49-F238E27FC236}">
                <a16:creationId xmlns:a16="http://schemas.microsoft.com/office/drawing/2014/main" id="{C3426FA5-6B50-284D-2E50-108815BE3940}"/>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endParaRPr/>
          </a:p>
        </p:txBody>
      </p:sp>
      <p:sp>
        <p:nvSpPr>
          <p:cNvPr id="201" name="Google Shape;201;g22f13355470_0_53:notes">
            <a:extLst>
              <a:ext uri="{FF2B5EF4-FFF2-40B4-BE49-F238E27FC236}">
                <a16:creationId xmlns:a16="http://schemas.microsoft.com/office/drawing/2014/main" id="{6E695D58-5858-6A70-30E7-DF37ECEE0CF6}"/>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24</a:t>
            </a:fld>
            <a:endParaRPr/>
          </a:p>
        </p:txBody>
      </p:sp>
    </p:spTree>
    <p:extLst>
      <p:ext uri="{BB962C8B-B14F-4D97-AF65-F5344CB8AC3E}">
        <p14:creationId xmlns:p14="http://schemas.microsoft.com/office/powerpoint/2010/main" val="23487170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09260A5F-EEA0-C55A-A560-4808E01DF1AF}"/>
            </a:ext>
          </a:extLst>
        </p:cNvPr>
        <p:cNvGrpSpPr/>
        <p:nvPr/>
      </p:nvGrpSpPr>
      <p:grpSpPr>
        <a:xfrm>
          <a:off x="0" y="0"/>
          <a:ext cx="0" cy="0"/>
          <a:chOff x="0" y="0"/>
          <a:chExt cx="0" cy="0"/>
        </a:xfrm>
      </p:grpSpPr>
      <p:sp>
        <p:nvSpPr>
          <p:cNvPr id="199" name="Google Shape;199;g22f13355470_0_53:notes">
            <a:extLst>
              <a:ext uri="{FF2B5EF4-FFF2-40B4-BE49-F238E27FC236}">
                <a16:creationId xmlns:a16="http://schemas.microsoft.com/office/drawing/2014/main" id="{A1296E8A-3DE1-9EE0-C7A2-D3418A9BBDAC}"/>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22f13355470_0_53:notes">
            <a:extLst>
              <a:ext uri="{FF2B5EF4-FFF2-40B4-BE49-F238E27FC236}">
                <a16:creationId xmlns:a16="http://schemas.microsoft.com/office/drawing/2014/main" id="{3409AAFC-2CF0-1F0D-060F-ED64F05A996C}"/>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endParaRPr/>
          </a:p>
        </p:txBody>
      </p:sp>
      <p:sp>
        <p:nvSpPr>
          <p:cNvPr id="201" name="Google Shape;201;g22f13355470_0_53:notes">
            <a:extLst>
              <a:ext uri="{FF2B5EF4-FFF2-40B4-BE49-F238E27FC236}">
                <a16:creationId xmlns:a16="http://schemas.microsoft.com/office/drawing/2014/main" id="{A38872F1-DDED-5847-29F9-787B513F101B}"/>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25</a:t>
            </a:fld>
            <a:endParaRPr/>
          </a:p>
        </p:txBody>
      </p:sp>
    </p:spTree>
    <p:extLst>
      <p:ext uri="{BB962C8B-B14F-4D97-AF65-F5344CB8AC3E}">
        <p14:creationId xmlns:p14="http://schemas.microsoft.com/office/powerpoint/2010/main" val="42271371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6424346B-697C-5958-5AD0-15370F31EB93}"/>
            </a:ext>
          </a:extLst>
        </p:cNvPr>
        <p:cNvGrpSpPr/>
        <p:nvPr/>
      </p:nvGrpSpPr>
      <p:grpSpPr>
        <a:xfrm>
          <a:off x="0" y="0"/>
          <a:ext cx="0" cy="0"/>
          <a:chOff x="0" y="0"/>
          <a:chExt cx="0" cy="0"/>
        </a:xfrm>
      </p:grpSpPr>
      <p:sp>
        <p:nvSpPr>
          <p:cNvPr id="199" name="Google Shape;199;g22f13355470_0_53:notes">
            <a:extLst>
              <a:ext uri="{FF2B5EF4-FFF2-40B4-BE49-F238E27FC236}">
                <a16:creationId xmlns:a16="http://schemas.microsoft.com/office/drawing/2014/main" id="{F4877F1D-C2B7-838F-B92A-562664BF3C7B}"/>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22f13355470_0_53:notes">
            <a:extLst>
              <a:ext uri="{FF2B5EF4-FFF2-40B4-BE49-F238E27FC236}">
                <a16:creationId xmlns:a16="http://schemas.microsoft.com/office/drawing/2014/main" id="{E11F40D7-D106-D546-9447-B7996762051D}"/>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endParaRPr/>
          </a:p>
        </p:txBody>
      </p:sp>
      <p:sp>
        <p:nvSpPr>
          <p:cNvPr id="201" name="Google Shape;201;g22f13355470_0_53:notes">
            <a:extLst>
              <a:ext uri="{FF2B5EF4-FFF2-40B4-BE49-F238E27FC236}">
                <a16:creationId xmlns:a16="http://schemas.microsoft.com/office/drawing/2014/main" id="{AF3257D4-B500-4F69-2462-20FCE6140043}"/>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26</a:t>
            </a:fld>
            <a:endParaRPr/>
          </a:p>
        </p:txBody>
      </p:sp>
    </p:spTree>
    <p:extLst>
      <p:ext uri="{BB962C8B-B14F-4D97-AF65-F5344CB8AC3E}">
        <p14:creationId xmlns:p14="http://schemas.microsoft.com/office/powerpoint/2010/main" val="34098731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480"/>
              </a:spcBef>
              <a:spcAft>
                <a:spcPts val="0"/>
              </a:spcAft>
              <a:buClr>
                <a:srgbClr val="888888"/>
              </a:buClr>
              <a:buSzPts val="2400"/>
              <a:buNone/>
              <a:defRPr>
                <a:solidFill>
                  <a:srgbClr val="888888"/>
                </a:solidFill>
              </a:defRPr>
            </a:lvl1pPr>
            <a:lvl2pPr lvl="1" algn="ctr">
              <a:lnSpc>
                <a:spcPct val="100000"/>
              </a:lnSpc>
              <a:spcBef>
                <a:spcPts val="400"/>
              </a:spcBef>
              <a:spcAft>
                <a:spcPts val="0"/>
              </a:spcAft>
              <a:buClr>
                <a:srgbClr val="888888"/>
              </a:buClr>
              <a:buSzPts val="2000"/>
              <a:buNone/>
              <a:defRPr>
                <a:solidFill>
                  <a:srgbClr val="888888"/>
                </a:solidFill>
              </a:defRPr>
            </a:lvl2pPr>
            <a:lvl3pPr lvl="2" algn="ctr">
              <a:lnSpc>
                <a:spcPct val="100000"/>
              </a:lnSpc>
              <a:spcBef>
                <a:spcPts val="360"/>
              </a:spcBef>
              <a:spcAft>
                <a:spcPts val="0"/>
              </a:spcAft>
              <a:buClr>
                <a:srgbClr val="888888"/>
              </a:buClr>
              <a:buSzPts val="1800"/>
              <a:buNone/>
              <a:defRPr>
                <a:solidFill>
                  <a:srgbClr val="888888"/>
                </a:solidFill>
              </a:defRPr>
            </a:lvl3pPr>
            <a:lvl4pPr lvl="3" algn="ctr">
              <a:lnSpc>
                <a:spcPct val="100000"/>
              </a:lnSpc>
              <a:spcBef>
                <a:spcPts val="320"/>
              </a:spcBef>
              <a:spcAft>
                <a:spcPts val="0"/>
              </a:spcAft>
              <a:buClr>
                <a:srgbClr val="888888"/>
              </a:buClr>
              <a:buSzPts val="1600"/>
              <a:buNone/>
              <a:defRPr>
                <a:solidFill>
                  <a:srgbClr val="888888"/>
                </a:solidFill>
              </a:defRPr>
            </a:lvl4pPr>
            <a:lvl5pPr lvl="4" algn="ctr">
              <a:lnSpc>
                <a:spcPct val="100000"/>
              </a:lnSpc>
              <a:spcBef>
                <a:spcPts val="320"/>
              </a:spcBef>
              <a:spcAft>
                <a:spcPts val="0"/>
              </a:spcAft>
              <a:buClr>
                <a:srgbClr val="888888"/>
              </a:buClr>
              <a:buSzPts val="16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13"/>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3"/>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3"/>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4"/>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4"/>
          <p:cNvSpPr txBox="1">
            <a:spLocks noGrp="1"/>
          </p:cNvSpPr>
          <p:nvPr>
            <p:ph type="body" idx="1"/>
          </p:nvPr>
        </p:nvSpPr>
        <p:spPr>
          <a:xfrm>
            <a:off x="457200" y="2286000"/>
            <a:ext cx="8229600" cy="4070351"/>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14"/>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4"/>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4"/>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15"/>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5"/>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5"/>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6"/>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1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16"/>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6"/>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6"/>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7"/>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36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1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1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1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17"/>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7"/>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7"/>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8"/>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8"/>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8"/>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8"/>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0"/>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0"/>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1" name="Google Shape;61;p20"/>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2" name="Google Shape;62;p20"/>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0"/>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0"/>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1"/>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1"/>
          <p:cNvSpPr>
            <a:spLocks noGrp="1"/>
          </p:cNvSpPr>
          <p:nvPr>
            <p:ph type="pic" idx="2"/>
          </p:nvPr>
        </p:nvSpPr>
        <p:spPr>
          <a:xfrm>
            <a:off x="1792288" y="612775"/>
            <a:ext cx="5486400" cy="4114800"/>
          </a:xfrm>
          <a:prstGeom prst="rect">
            <a:avLst/>
          </a:prstGeom>
          <a:noFill/>
          <a:ln>
            <a:noFill/>
          </a:ln>
        </p:spPr>
      </p:sp>
      <p:sp>
        <p:nvSpPr>
          <p:cNvPr id="68" name="Google Shape;68;p21"/>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21"/>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1"/>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1"/>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2"/>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2"/>
          <p:cNvSpPr txBox="1">
            <a:spLocks noGrp="1"/>
          </p:cNvSpPr>
          <p:nvPr>
            <p:ph type="body" idx="1"/>
          </p:nvPr>
        </p:nvSpPr>
        <p:spPr>
          <a:xfrm rot="5400000">
            <a:off x="2536824" y="206375"/>
            <a:ext cx="4070351"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22"/>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2"/>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2"/>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3"/>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3"/>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23"/>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3"/>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3"/>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2">
            <a:alphaModFix/>
          </a:blip>
          <a:stretch>
            <a:fillRect/>
          </a:stretch>
        </a:blipFill>
        <a:effectLst/>
      </p:bgPr>
    </p:bg>
    <p:spTree>
      <p:nvGrpSpPr>
        <p:cNvPr id="1" name="Shape 9"/>
        <p:cNvGrpSpPr/>
        <p:nvPr/>
      </p:nvGrpSpPr>
      <p:grpSpPr>
        <a:xfrm>
          <a:off x="0" y="0"/>
          <a:ext cx="0" cy="0"/>
          <a:chOff x="0" y="0"/>
          <a:chExt cx="0" cy="0"/>
        </a:xfrm>
      </p:grpSpPr>
      <p:sp>
        <p:nvSpPr>
          <p:cNvPr id="10" name="Google Shape;10;p12"/>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2"/>
          <p:cNvSpPr txBox="1">
            <a:spLocks noGrp="1"/>
          </p:cNvSpPr>
          <p:nvPr>
            <p:ph type="body" idx="1"/>
          </p:nvPr>
        </p:nvSpPr>
        <p:spPr>
          <a:xfrm>
            <a:off x="457200" y="2286000"/>
            <a:ext cx="8229600" cy="4070351"/>
          </a:xfrm>
          <a:prstGeom prst="rect">
            <a:avLst/>
          </a:prstGeom>
          <a:noFill/>
          <a:ln>
            <a:noFill/>
          </a:ln>
        </p:spPr>
        <p:txBody>
          <a:bodyPr spcFirstLastPara="1" wrap="square" lIns="91425" tIns="45700" rIns="91425" bIns="45700" anchor="t" anchorCtr="0">
            <a:normAutofit/>
          </a:bodyPr>
          <a:lstStyle>
            <a:lvl1pPr marL="457200" marR="0" lvl="0" indent="-381000" algn="l" rtl="0">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Calibri"/>
                <a:ea typeface="Calibri"/>
                <a:cs typeface="Calibri"/>
                <a:sym typeface="Calibri"/>
              </a:defRPr>
            </a:lvl1pPr>
            <a:lvl2pPr marL="914400" marR="0" lvl="1" indent="-355600" algn="l" rtl="0">
              <a:lnSpc>
                <a:spcPct val="100000"/>
              </a:lnSpc>
              <a:spcBef>
                <a:spcPts val="400"/>
              </a:spcBef>
              <a:spcAft>
                <a:spcPts val="0"/>
              </a:spcAft>
              <a:buClr>
                <a:schemeClr val="dk1"/>
              </a:buClr>
              <a:buSzPts val="2000"/>
              <a:buFont typeface="Noto Sans Symbols"/>
              <a:buChar char="▪"/>
              <a:defRPr sz="20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2"/>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2"/>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2"/>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 id="2147483659"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46084" y="1567049"/>
            <a:ext cx="7809470" cy="1708801"/>
          </a:xfrm>
        </p:spPr>
        <p:txBody>
          <a:bodyPr>
            <a:noAutofit/>
          </a:bodyPr>
          <a:lstStyle/>
          <a:p>
            <a:br>
              <a:rPr lang="en-IN" sz="2000" b="1" dirty="0">
                <a:latin typeface="Times New Roman" pitchFamily="18" charset="0"/>
                <a:cs typeface="Times New Roman" pitchFamily="18" charset="0"/>
              </a:rPr>
            </a:br>
            <a:br>
              <a:rPr lang="en-IN" sz="2000" b="1" dirty="0">
                <a:latin typeface="Times New Roman" pitchFamily="18" charset="0"/>
                <a:cs typeface="Times New Roman" pitchFamily="18" charset="0"/>
              </a:rPr>
            </a:br>
            <a:br>
              <a:rPr lang="en-IN" sz="2000" b="1" dirty="0">
                <a:latin typeface="Times New Roman" pitchFamily="18" charset="0"/>
                <a:cs typeface="Times New Roman" pitchFamily="18" charset="0"/>
              </a:rPr>
            </a:br>
            <a:r>
              <a:rPr lang="en-IN" sz="2000" b="1" dirty="0">
                <a:latin typeface="Times New Roman"/>
                <a:cs typeface="Times New Roman"/>
              </a:rPr>
              <a:t>Project </a:t>
            </a:r>
            <a:r>
              <a:rPr lang="en-IN" sz="2000" dirty="0">
                <a:latin typeface="Times New Roman"/>
                <a:cs typeface="Times New Roman"/>
              </a:rPr>
              <a:t>Review-III</a:t>
            </a:r>
            <a:br>
              <a:rPr lang="en-IN" sz="2000" dirty="0">
                <a:latin typeface="Times New Roman"/>
                <a:cs typeface="Times New Roman"/>
              </a:rPr>
            </a:br>
            <a:r>
              <a:rPr lang="en-IN" sz="2000" dirty="0">
                <a:latin typeface="Times New Roman"/>
                <a:cs typeface="Times New Roman"/>
              </a:rPr>
              <a:t>Presentation</a:t>
            </a:r>
            <a:br>
              <a:rPr lang="en-IN" sz="2000" b="1" dirty="0">
                <a:latin typeface="Times New Roman" pitchFamily="18" charset="0"/>
                <a:cs typeface="Times New Roman" pitchFamily="18" charset="0"/>
              </a:rPr>
            </a:br>
            <a:r>
              <a:rPr lang="en-IN" sz="2000" b="1" dirty="0">
                <a:latin typeface="Times New Roman"/>
                <a:cs typeface="Times New Roman"/>
              </a:rPr>
              <a:t>on</a:t>
            </a:r>
            <a:br>
              <a:rPr lang="en-IN" sz="2000" b="1" dirty="0">
                <a:latin typeface="Times New Roman" pitchFamily="18" charset="0"/>
                <a:cs typeface="Times New Roman" pitchFamily="18" charset="0"/>
              </a:rPr>
            </a:br>
            <a:r>
              <a:rPr lang="en-IN" sz="2000" dirty="0">
                <a:latin typeface="Times New Roman"/>
                <a:cs typeface="Times New Roman"/>
              </a:rPr>
              <a:t>“Skin Disease prediction using Hybrid deep learning algorithm”</a:t>
            </a:r>
            <a:br>
              <a:rPr lang="en-IN" sz="2000" b="1" dirty="0">
                <a:latin typeface="Times New Roman" pitchFamily="18" charset="0"/>
                <a:cs typeface="Times New Roman" pitchFamily="18" charset="0"/>
              </a:rPr>
            </a:br>
            <a:r>
              <a:rPr lang="en-IN" sz="2000" b="1" dirty="0">
                <a:latin typeface="Times New Roman"/>
                <a:cs typeface="Times New Roman"/>
              </a:rPr>
              <a:t>By</a:t>
            </a:r>
            <a:br>
              <a:rPr lang="en-IN" sz="2000" b="1" dirty="0">
                <a:latin typeface="Times New Roman" pitchFamily="18" charset="0"/>
                <a:cs typeface="Times New Roman" pitchFamily="18" charset="0"/>
              </a:rPr>
            </a:br>
            <a:r>
              <a:rPr lang="en-IN" sz="2000" dirty="0">
                <a:latin typeface="Times New Roman"/>
                <a:cs typeface="Times New Roman"/>
              </a:rPr>
              <a:t>    </a:t>
            </a:r>
            <a:r>
              <a:rPr lang="en-IN" sz="2000" b="1" dirty="0">
                <a:latin typeface="Times New Roman"/>
                <a:cs typeface="Times New Roman"/>
              </a:rPr>
              <a:t>1. </a:t>
            </a:r>
            <a:r>
              <a:rPr lang="en-IN" sz="2000" dirty="0">
                <a:latin typeface="Times New Roman"/>
                <a:cs typeface="Times New Roman"/>
              </a:rPr>
              <a:t>Swarup Sonawane (A231)</a:t>
            </a:r>
            <a:br>
              <a:rPr lang="en-IN" sz="2000" dirty="0">
                <a:latin typeface="Times New Roman"/>
                <a:cs typeface="Times New Roman"/>
              </a:rPr>
            </a:br>
            <a:r>
              <a:rPr lang="en-IN" sz="2000" dirty="0">
                <a:latin typeface="Times New Roman"/>
                <a:cs typeface="Times New Roman"/>
              </a:rPr>
              <a:t>2</a:t>
            </a:r>
            <a:r>
              <a:rPr lang="en-IN" sz="2000" b="1" dirty="0">
                <a:latin typeface="Times New Roman"/>
                <a:cs typeface="Times New Roman"/>
              </a:rPr>
              <a:t>.</a:t>
            </a:r>
            <a:r>
              <a:rPr lang="en-IN" sz="2000" dirty="0">
                <a:latin typeface="Times New Roman"/>
                <a:cs typeface="Times New Roman"/>
              </a:rPr>
              <a:t>Krishna Sad (A268)</a:t>
            </a:r>
            <a:br>
              <a:rPr lang="en-IN" sz="2000" b="1" dirty="0">
                <a:latin typeface="Times New Roman" pitchFamily="18" charset="0"/>
                <a:cs typeface="Times New Roman" pitchFamily="18" charset="0"/>
              </a:rPr>
            </a:br>
            <a:r>
              <a:rPr lang="en-IN" sz="2000" dirty="0">
                <a:latin typeface="Times New Roman"/>
                <a:cs typeface="Times New Roman"/>
              </a:rPr>
              <a:t>3.Kartik </a:t>
            </a:r>
            <a:r>
              <a:rPr lang="en-IN" sz="2000" dirty="0" err="1">
                <a:latin typeface="Times New Roman"/>
                <a:cs typeface="Times New Roman"/>
              </a:rPr>
              <a:t>Mohata</a:t>
            </a:r>
            <a:r>
              <a:rPr lang="en-IN" sz="2000" dirty="0">
                <a:latin typeface="Times New Roman"/>
                <a:cs typeface="Times New Roman"/>
              </a:rPr>
              <a:t> (A273)</a:t>
            </a:r>
            <a:br>
              <a:rPr lang="en-IN" sz="2000" b="1" dirty="0">
                <a:latin typeface="Times New Roman" pitchFamily="18" charset="0"/>
                <a:cs typeface="Times New Roman" pitchFamily="18" charset="0"/>
              </a:rPr>
            </a:br>
            <a:br>
              <a:rPr lang="en-IN" sz="2000" b="1" dirty="0">
                <a:latin typeface="Times New Roman" pitchFamily="18" charset="0"/>
                <a:cs typeface="Times New Roman" pitchFamily="18" charset="0"/>
              </a:rPr>
            </a:br>
            <a:br>
              <a:rPr lang="en-IN" sz="2000" dirty="0">
                <a:latin typeface="Times New Roman"/>
                <a:cs typeface="Times New Roman"/>
              </a:rPr>
            </a:br>
            <a:r>
              <a:rPr lang="en-IN" sz="2000" b="1" dirty="0">
                <a:latin typeface="Times New Roman"/>
                <a:cs typeface="Times New Roman"/>
              </a:rPr>
              <a:t>Under the Guidance of</a:t>
            </a:r>
            <a:br>
              <a:rPr lang="en-IN" sz="2000" b="1" dirty="0">
                <a:latin typeface="Times New Roman" pitchFamily="18" charset="0"/>
                <a:cs typeface="Times New Roman" pitchFamily="18" charset="0"/>
              </a:rPr>
            </a:br>
            <a:r>
              <a:rPr lang="en-IN" sz="2000" dirty="0">
                <a:latin typeface="Times New Roman"/>
                <a:cs typeface="Times New Roman"/>
              </a:rPr>
              <a:t>Prof. Atul Patil </a:t>
            </a:r>
            <a:br>
              <a:rPr lang="en-IN" sz="2000" b="1" dirty="0">
                <a:latin typeface="Times New Roman" pitchFamily="18" charset="0"/>
                <a:cs typeface="Times New Roman" pitchFamily="18" charset="0"/>
              </a:rPr>
            </a:br>
            <a:endParaRPr lang="en-IN" sz="2000" b="1">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1</a:t>
            </a:fld>
            <a:endParaRPr lang="en-US"/>
          </a:p>
        </p:txBody>
      </p:sp>
      <p:pic>
        <p:nvPicPr>
          <p:cNvPr id="1027" name="Picture 3" descr="C:\Users\kunal\Pictures\nmims.png"/>
          <p:cNvPicPr>
            <a:picLocks noChangeAspect="1" noChangeArrowheads="1"/>
          </p:cNvPicPr>
          <p:nvPr/>
        </p:nvPicPr>
        <p:blipFill>
          <a:blip r:embed="rId2" cstate="print"/>
          <a:srcRect/>
          <a:stretch>
            <a:fillRect/>
          </a:stretch>
        </p:blipFill>
        <p:spPr bwMode="auto">
          <a:xfrm>
            <a:off x="4302914" y="4687458"/>
            <a:ext cx="1057275" cy="1209675"/>
          </a:xfrm>
          <a:prstGeom prst="rect">
            <a:avLst/>
          </a:prstGeom>
          <a:noFill/>
        </p:spPr>
      </p:pic>
      <p:sp>
        <p:nvSpPr>
          <p:cNvPr id="6" name="TextBox 5"/>
          <p:cNvSpPr txBox="1"/>
          <p:nvPr/>
        </p:nvSpPr>
        <p:spPr>
          <a:xfrm>
            <a:off x="1707352" y="5688683"/>
            <a:ext cx="6248400" cy="954107"/>
          </a:xfrm>
          <a:prstGeom prst="rect">
            <a:avLst/>
          </a:prstGeom>
          <a:noFill/>
        </p:spPr>
        <p:txBody>
          <a:bodyPr wrap="square" lIns="91440" tIns="45720" rIns="91440" bIns="45720" rtlCol="0" anchor="t">
            <a:spAutoFit/>
          </a:bodyPr>
          <a:lstStyle/>
          <a:p>
            <a:pPr algn="ctr"/>
            <a:endParaRPr lang="en-IN" b="1">
              <a:latin typeface="Times New Roman" pitchFamily="18" charset="0"/>
              <a:cs typeface="Times New Roman" pitchFamily="18" charset="0"/>
            </a:endParaRPr>
          </a:p>
          <a:p>
            <a:pPr algn="ctr"/>
            <a:r>
              <a:rPr lang="en-IN" b="1" dirty="0">
                <a:latin typeface="Times New Roman"/>
                <a:cs typeface="Times New Roman"/>
              </a:rPr>
              <a:t>Department of Information Technology</a:t>
            </a:r>
          </a:p>
          <a:p>
            <a:pPr algn="ctr"/>
            <a:r>
              <a:rPr lang="en-IN" b="1" dirty="0">
                <a:latin typeface="Times New Roman"/>
                <a:cs typeface="Times New Roman"/>
              </a:rPr>
              <a:t>MPSTME, SVKMs NMIMS </a:t>
            </a:r>
            <a:r>
              <a:rPr lang="en-IN" b="1" dirty="0" err="1">
                <a:latin typeface="Times New Roman"/>
                <a:cs typeface="Times New Roman"/>
              </a:rPr>
              <a:t>Shirpur</a:t>
            </a:r>
            <a:r>
              <a:rPr lang="en-IN" b="1" dirty="0">
                <a:latin typeface="Times New Roman"/>
                <a:cs typeface="Times New Roman"/>
              </a:rPr>
              <a:t> Campus</a:t>
            </a:r>
          </a:p>
          <a:p>
            <a:pPr algn="ctr"/>
            <a:r>
              <a:rPr lang="en-IN" b="1" dirty="0">
                <a:latin typeface="Times New Roman"/>
                <a:cs typeface="Times New Roman"/>
              </a:rPr>
              <a:t>2025-26</a:t>
            </a:r>
          </a:p>
        </p:txBody>
      </p:sp>
    </p:spTree>
    <p:extLst>
      <p:ext uri="{BB962C8B-B14F-4D97-AF65-F5344CB8AC3E}">
        <p14:creationId xmlns:p14="http://schemas.microsoft.com/office/powerpoint/2010/main" val="7537471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32720" y="1146682"/>
            <a:ext cx="6479309" cy="1143000"/>
          </a:xfrm>
        </p:spPr>
        <p:txBody>
          <a:bodyPr/>
          <a:lstStyle/>
          <a:p>
            <a:r>
              <a:rPr lang="en-IN" b="1">
                <a:latin typeface="Times New Roman" pitchFamily="18" charset="0"/>
                <a:cs typeface="Times New Roman" pitchFamily="18" charset="0"/>
              </a:rPr>
              <a:t>Outline</a:t>
            </a:r>
          </a:p>
        </p:txBody>
      </p:sp>
      <p:sp>
        <p:nvSpPr>
          <p:cNvPr id="3" name="Content Placeholder 2"/>
          <p:cNvSpPr>
            <a:spLocks noGrp="1"/>
          </p:cNvSpPr>
          <p:nvPr>
            <p:ph idx="1"/>
          </p:nvPr>
        </p:nvSpPr>
        <p:spPr>
          <a:xfrm>
            <a:off x="457200" y="1937327"/>
            <a:ext cx="8229600" cy="3704237"/>
          </a:xfrm>
        </p:spPr>
        <p:txBody>
          <a:bodyPr>
            <a:noAutofit/>
          </a:bodyPr>
          <a:lstStyle/>
          <a:p>
            <a:pPr marL="358775" lvl="1" indent="-358775">
              <a:lnSpc>
                <a:spcPct val="150000"/>
              </a:lnSpc>
              <a:buFont typeface="Arial" pitchFamily="34" charset="0"/>
              <a:buChar char="•"/>
            </a:pPr>
            <a:r>
              <a:rPr lang="en-IN" dirty="0">
                <a:latin typeface="Times New Roman"/>
                <a:cs typeface="Times New Roman"/>
              </a:rPr>
              <a:t>Introduction</a:t>
            </a:r>
          </a:p>
          <a:p>
            <a:pPr marL="358775" lvl="1" indent="-358775">
              <a:lnSpc>
                <a:spcPct val="150000"/>
              </a:lnSpc>
              <a:buFont typeface="Arial" pitchFamily="34" charset="0"/>
              <a:buChar char="•"/>
            </a:pPr>
            <a:r>
              <a:rPr lang="en-IN" dirty="0">
                <a:latin typeface="Times New Roman"/>
                <a:cs typeface="Times New Roman"/>
              </a:rPr>
              <a:t>Literature Survey</a:t>
            </a:r>
            <a:endParaRPr lang="en-US" dirty="0">
              <a:latin typeface="Times New Roman"/>
              <a:cs typeface="Times New Roman"/>
            </a:endParaRPr>
          </a:p>
          <a:p>
            <a:pPr marL="358775" lvl="1" indent="-358775">
              <a:lnSpc>
                <a:spcPct val="150000"/>
              </a:lnSpc>
              <a:buFont typeface="Arial" pitchFamily="34" charset="0"/>
              <a:buChar char="•"/>
            </a:pPr>
            <a:r>
              <a:rPr lang="en-IN" dirty="0">
                <a:latin typeface="Times New Roman"/>
                <a:cs typeface="Times New Roman"/>
              </a:rPr>
              <a:t>Problem Statement</a:t>
            </a:r>
            <a:endParaRPr lang="en-US" dirty="0">
              <a:latin typeface="Times New Roman"/>
              <a:cs typeface="Times New Roman"/>
            </a:endParaRPr>
          </a:p>
          <a:p>
            <a:pPr marL="358775" lvl="1" indent="-358775">
              <a:lnSpc>
                <a:spcPct val="150000"/>
              </a:lnSpc>
              <a:buFont typeface="Arial" pitchFamily="34" charset="0"/>
              <a:buChar char="•"/>
            </a:pPr>
            <a:r>
              <a:rPr lang="en-IN" dirty="0">
                <a:latin typeface="Times New Roman"/>
                <a:cs typeface="Times New Roman"/>
              </a:rPr>
              <a:t>Objective of Project</a:t>
            </a:r>
          </a:p>
          <a:p>
            <a:pPr marL="358775" lvl="1" indent="-358775">
              <a:lnSpc>
                <a:spcPct val="150000"/>
              </a:lnSpc>
              <a:buFont typeface="Arial" pitchFamily="34" charset="0"/>
              <a:buChar char="•"/>
            </a:pPr>
            <a:r>
              <a:rPr lang="en-IN" dirty="0">
                <a:latin typeface="Times New Roman"/>
                <a:cs typeface="Times New Roman"/>
              </a:rPr>
              <a:t>Design/System Architecture</a:t>
            </a:r>
            <a:endParaRPr lang="en-IN" dirty="0">
              <a:latin typeface="Times New Roman" pitchFamily="18" charset="0"/>
              <a:cs typeface="Times New Roman" pitchFamily="18" charset="0"/>
            </a:endParaRPr>
          </a:p>
          <a:p>
            <a:pPr marL="358775" lvl="1" indent="-358775">
              <a:lnSpc>
                <a:spcPct val="150000"/>
              </a:lnSpc>
              <a:buFont typeface="Arial" pitchFamily="34" charset="0"/>
              <a:buChar char="•"/>
            </a:pPr>
            <a:r>
              <a:rPr lang="en-IN" dirty="0">
                <a:latin typeface="Times New Roman"/>
                <a:cs typeface="Times New Roman"/>
              </a:rPr>
              <a:t>Partial implementation/Result</a:t>
            </a:r>
          </a:p>
          <a:p>
            <a:pPr marL="358775" lvl="1" indent="-358775">
              <a:lnSpc>
                <a:spcPct val="150000"/>
              </a:lnSpc>
              <a:buFont typeface="Arial" pitchFamily="34" charset="0"/>
              <a:buChar char="•"/>
            </a:pPr>
            <a:r>
              <a:rPr lang="en-IN" dirty="0">
                <a:latin typeface="Times New Roman"/>
                <a:cs typeface="Times New Roman"/>
              </a:rPr>
              <a:t>References</a:t>
            </a:r>
          </a:p>
          <a:p>
            <a:pPr lvl="1"/>
            <a:endParaRPr lang="en-IN" sz="1600">
              <a:latin typeface="Times New Roman" pitchFamily="18" charset="0"/>
              <a:cs typeface="Times New Roman" pitchFamily="18" charset="0"/>
            </a:endParaRPr>
          </a:p>
          <a:p>
            <a:pPr lvl="1">
              <a:buNone/>
            </a:pPr>
            <a:endParaRPr lang="en-IN" sz="160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p14="http://schemas.microsoft.com/office/powerpoint/2010/main" val="1789140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4" name="Google Shape;204;g22f13355470_0_53"/>
          <p:cNvSpPr txBox="1">
            <a:spLocks noGrp="1"/>
          </p:cNvSpPr>
          <p:nvPr>
            <p:ph type="sldNum" idx="12"/>
          </p:nvPr>
        </p:nvSpPr>
        <p:spPr>
          <a:xfrm>
            <a:off x="6553200" y="6373546"/>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050"/>
              <a:buFont typeface="Arial"/>
              <a:buNone/>
            </a:pPr>
            <a:fld id="{00000000-1234-1234-1234-123412341234}" type="slidenum">
              <a:rPr lang="en-IN"/>
              <a:t>3</a:t>
            </a:fld>
            <a:endParaRPr/>
          </a:p>
        </p:txBody>
      </p:sp>
      <p:sp>
        <p:nvSpPr>
          <p:cNvPr id="4" name="Title 3">
            <a:extLst>
              <a:ext uri="{FF2B5EF4-FFF2-40B4-BE49-F238E27FC236}">
                <a16:creationId xmlns:a16="http://schemas.microsoft.com/office/drawing/2014/main" id="{234DA1BE-56A2-9DEB-29D7-E01ED841813E}"/>
              </a:ext>
            </a:extLst>
          </p:cNvPr>
          <p:cNvSpPr>
            <a:spLocks noGrp="1"/>
          </p:cNvSpPr>
          <p:nvPr>
            <p:ph type="title"/>
          </p:nvPr>
        </p:nvSpPr>
        <p:spPr>
          <a:xfrm>
            <a:off x="405713" y="1254211"/>
            <a:ext cx="8281087" cy="914400"/>
          </a:xfrm>
        </p:spPr>
        <p:txBody>
          <a:bodyPr>
            <a:normAutofit/>
          </a:bodyPr>
          <a:lstStyle/>
          <a:p>
            <a:r>
              <a:rPr lang="en-IN">
                <a:latin typeface="Times New Roman"/>
                <a:cs typeface="Times New Roman"/>
              </a:rPr>
              <a:t>Introduction</a:t>
            </a:r>
            <a:endParaRPr lang="en-US"/>
          </a:p>
        </p:txBody>
      </p:sp>
      <p:sp>
        <p:nvSpPr>
          <p:cNvPr id="5" name="TextBox 4">
            <a:extLst>
              <a:ext uri="{FF2B5EF4-FFF2-40B4-BE49-F238E27FC236}">
                <a16:creationId xmlns:a16="http://schemas.microsoft.com/office/drawing/2014/main" id="{20EBDC02-F4B1-9115-0395-5BF5F840EF31}"/>
              </a:ext>
            </a:extLst>
          </p:cNvPr>
          <p:cNvSpPr txBox="1"/>
          <p:nvPr/>
        </p:nvSpPr>
        <p:spPr>
          <a:xfrm>
            <a:off x="852618" y="1717591"/>
            <a:ext cx="7449063" cy="4462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
              <a:buChar char="•"/>
            </a:pPr>
            <a:endParaRPr lang="en-US" sz="1800" dirty="0"/>
          </a:p>
          <a:p>
            <a:br>
              <a:rPr lang="en-US" dirty="0"/>
            </a:br>
            <a:endParaRPr lang="en-US" dirty="0"/>
          </a:p>
          <a:p>
            <a:pPr algn="just"/>
            <a:endParaRPr lang="en-US" sz="1600" dirty="0"/>
          </a:p>
          <a:p>
            <a:pPr algn="just"/>
            <a:r>
              <a:rPr lang="en-US" sz="1600" dirty="0"/>
              <a:t>Skin disease, especially skin cancer, is among the most common and deadly cancers globally, with incidence rates continuing to rise. Accurate early detection and classification of skin lesions are critical to improving patient survival and treatment outcomes. Manual diagnosis based on visual inspection is prone to variability and can be time-consuming due to the subtle differences between benign and malignant lesions. To tackle these challenges, this project proposes an automated deep learning system that leverages a large, diverse </a:t>
            </a:r>
            <a:r>
              <a:rPr lang="en-US" sz="1600" err="1"/>
              <a:t>dermoscopic</a:t>
            </a:r>
            <a:r>
              <a:rPr lang="en-US" sz="1600" dirty="0"/>
              <a:t> image dataset to enable fast, reliable, and multi-class classification of skin diseases. The system is designed to support dermatologists by providing accurate diagnostic assistance, improving both efficiency and reliability in clinical settings, ultimately aiding in more timely and effective patient care.</a:t>
            </a:r>
          </a:p>
          <a:p>
            <a:br>
              <a:rPr lang="en-US" dirty="0"/>
            </a:br>
            <a:endParaRPr lang="en-US"/>
          </a:p>
          <a:p>
            <a:pPr marL="228600" indent="-228600">
              <a:buFont typeface=""/>
              <a:buChar char="•"/>
            </a:pPr>
            <a:endParaRPr lang="en-US" sz="1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2">
          <a:extLst>
            <a:ext uri="{FF2B5EF4-FFF2-40B4-BE49-F238E27FC236}">
              <a16:creationId xmlns:a16="http://schemas.microsoft.com/office/drawing/2014/main" id="{15A59A4D-B293-6109-26C4-5E6DCA7F6C0A}"/>
            </a:ext>
          </a:extLst>
        </p:cNvPr>
        <p:cNvGrpSpPr/>
        <p:nvPr/>
      </p:nvGrpSpPr>
      <p:grpSpPr>
        <a:xfrm>
          <a:off x="0" y="0"/>
          <a:ext cx="0" cy="0"/>
          <a:chOff x="0" y="0"/>
          <a:chExt cx="0" cy="0"/>
        </a:xfrm>
      </p:grpSpPr>
      <p:sp>
        <p:nvSpPr>
          <p:cNvPr id="204" name="Google Shape;204;g22f13355470_0_53">
            <a:extLst>
              <a:ext uri="{FF2B5EF4-FFF2-40B4-BE49-F238E27FC236}">
                <a16:creationId xmlns:a16="http://schemas.microsoft.com/office/drawing/2014/main" id="{98E3CBF9-6726-482C-293B-020D2D32C678}"/>
              </a:ext>
            </a:extLst>
          </p:cNvPr>
          <p:cNvSpPr txBox="1">
            <a:spLocks noGrp="1"/>
          </p:cNvSpPr>
          <p:nvPr>
            <p:ph type="sldNum" idx="12"/>
          </p:nvPr>
        </p:nvSpPr>
        <p:spPr>
          <a:xfrm>
            <a:off x="6553200" y="6373546"/>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050"/>
              <a:buFont typeface="Arial"/>
              <a:buNone/>
            </a:pPr>
            <a:fld id="{00000000-1234-1234-1234-123412341234}" type="slidenum">
              <a:rPr lang="en-IN"/>
              <a:t>4</a:t>
            </a:fld>
            <a:endParaRPr/>
          </a:p>
        </p:txBody>
      </p:sp>
      <p:graphicFrame>
        <p:nvGraphicFramePr>
          <p:cNvPr id="3" name="Table 2">
            <a:extLst>
              <a:ext uri="{FF2B5EF4-FFF2-40B4-BE49-F238E27FC236}">
                <a16:creationId xmlns:a16="http://schemas.microsoft.com/office/drawing/2014/main" id="{D9E27008-0036-B59C-5267-06D846D86C13}"/>
              </a:ext>
            </a:extLst>
          </p:cNvPr>
          <p:cNvGraphicFramePr>
            <a:graphicFrameLocks noGrp="1"/>
          </p:cNvGraphicFramePr>
          <p:nvPr>
            <p:extLst>
              <p:ext uri="{D42A27DB-BD31-4B8C-83A1-F6EECF244321}">
                <p14:modId xmlns:p14="http://schemas.microsoft.com/office/powerpoint/2010/main" val="3812671613"/>
              </p:ext>
            </p:extLst>
          </p:nvPr>
        </p:nvGraphicFramePr>
        <p:xfrm>
          <a:off x="411892" y="2238632"/>
          <a:ext cx="8327740" cy="2972069"/>
        </p:xfrm>
        <a:graphic>
          <a:graphicData uri="http://schemas.openxmlformats.org/drawingml/2006/table">
            <a:tbl>
              <a:tblPr bandRow="1">
                <a:tableStyleId>{5C22544A-7EE6-4342-B048-85BDC9FD1C3A}</a:tableStyleId>
              </a:tblPr>
              <a:tblGrid>
                <a:gridCol w="1665548">
                  <a:extLst>
                    <a:ext uri="{9D8B030D-6E8A-4147-A177-3AD203B41FA5}">
                      <a16:colId xmlns:a16="http://schemas.microsoft.com/office/drawing/2014/main" val="2029465957"/>
                    </a:ext>
                  </a:extLst>
                </a:gridCol>
                <a:gridCol w="1665548">
                  <a:extLst>
                    <a:ext uri="{9D8B030D-6E8A-4147-A177-3AD203B41FA5}">
                      <a16:colId xmlns:a16="http://schemas.microsoft.com/office/drawing/2014/main" val="302336918"/>
                    </a:ext>
                  </a:extLst>
                </a:gridCol>
                <a:gridCol w="1665548">
                  <a:extLst>
                    <a:ext uri="{9D8B030D-6E8A-4147-A177-3AD203B41FA5}">
                      <a16:colId xmlns:a16="http://schemas.microsoft.com/office/drawing/2014/main" val="1102441411"/>
                    </a:ext>
                  </a:extLst>
                </a:gridCol>
                <a:gridCol w="1665548">
                  <a:extLst>
                    <a:ext uri="{9D8B030D-6E8A-4147-A177-3AD203B41FA5}">
                      <a16:colId xmlns:a16="http://schemas.microsoft.com/office/drawing/2014/main" val="2659080891"/>
                    </a:ext>
                  </a:extLst>
                </a:gridCol>
                <a:gridCol w="1665548">
                  <a:extLst>
                    <a:ext uri="{9D8B030D-6E8A-4147-A177-3AD203B41FA5}">
                      <a16:colId xmlns:a16="http://schemas.microsoft.com/office/drawing/2014/main" val="3968296811"/>
                    </a:ext>
                  </a:extLst>
                </a:gridCol>
              </a:tblGrid>
              <a:tr h="311484">
                <a:tc>
                  <a:txBody>
                    <a:bodyPr/>
                    <a:lstStyle/>
                    <a:p>
                      <a:pPr>
                        <a:buNone/>
                      </a:pPr>
                      <a:r>
                        <a:rPr lang="en-US"/>
                        <a:t>Author &amp; Year</a:t>
                      </a:r>
                    </a:p>
                  </a:txBody>
                  <a:tcPr anchor="ctr"/>
                </a:tc>
                <a:tc>
                  <a:txBody>
                    <a:bodyPr/>
                    <a:lstStyle/>
                    <a:p>
                      <a:pPr>
                        <a:buNone/>
                      </a:pPr>
                      <a:r>
                        <a:rPr lang="en-US"/>
                        <a:t>Method</a:t>
                      </a:r>
                    </a:p>
                  </a:txBody>
                  <a:tcPr anchor="ctr"/>
                </a:tc>
                <a:tc>
                  <a:txBody>
                    <a:bodyPr/>
                    <a:lstStyle/>
                    <a:p>
                      <a:pPr>
                        <a:buNone/>
                      </a:pPr>
                      <a:r>
                        <a:rPr lang="en-US"/>
                        <a:t>Dataset</a:t>
                      </a:r>
                    </a:p>
                  </a:txBody>
                  <a:tcPr anchor="ctr"/>
                </a:tc>
                <a:tc>
                  <a:txBody>
                    <a:bodyPr/>
                    <a:lstStyle/>
                    <a:p>
                      <a:pPr>
                        <a:buNone/>
                      </a:pPr>
                      <a:r>
                        <a:rPr lang="en-US"/>
                        <a:t>Accuracy</a:t>
                      </a:r>
                    </a:p>
                  </a:txBody>
                  <a:tcPr anchor="ctr"/>
                </a:tc>
                <a:tc>
                  <a:txBody>
                    <a:bodyPr/>
                    <a:lstStyle/>
                    <a:p>
                      <a:pPr>
                        <a:buNone/>
                      </a:pPr>
                      <a:r>
                        <a:rPr lang="en-US"/>
                        <a:t>Limitation</a:t>
                      </a:r>
                    </a:p>
                  </a:txBody>
                  <a:tcPr anchor="ctr"/>
                </a:tc>
                <a:extLst>
                  <a:ext uri="{0D108BD9-81ED-4DB2-BD59-A6C34878D82A}">
                    <a16:rowId xmlns:a16="http://schemas.microsoft.com/office/drawing/2014/main" val="1260839797"/>
                  </a:ext>
                </a:extLst>
              </a:tr>
              <a:tr h="532117">
                <a:tc>
                  <a:txBody>
                    <a:bodyPr/>
                    <a:lstStyle/>
                    <a:p>
                      <a:pPr>
                        <a:buNone/>
                      </a:pPr>
                      <a:r>
                        <a:rPr lang="en-US"/>
                        <a:t>Esteva et al. (2017)</a:t>
                      </a:r>
                    </a:p>
                  </a:txBody>
                  <a:tcPr anchor="ctr"/>
                </a:tc>
                <a:tc>
                  <a:txBody>
                    <a:bodyPr/>
                    <a:lstStyle/>
                    <a:p>
                      <a:pPr>
                        <a:buNone/>
                      </a:pPr>
                      <a:r>
                        <a:rPr lang="en-US"/>
                        <a:t>CNN (Inception-v3)</a:t>
                      </a:r>
                    </a:p>
                  </a:txBody>
                  <a:tcPr anchor="ctr"/>
                </a:tc>
                <a:tc>
                  <a:txBody>
                    <a:bodyPr/>
                    <a:lstStyle/>
                    <a:p>
                      <a:pPr>
                        <a:buNone/>
                      </a:pPr>
                      <a:r>
                        <a:rPr lang="en-US"/>
                        <a:t>Dermoscopic (129k)</a:t>
                      </a:r>
                    </a:p>
                  </a:txBody>
                  <a:tcPr anchor="ctr"/>
                </a:tc>
                <a:tc>
                  <a:txBody>
                    <a:bodyPr/>
                    <a:lstStyle/>
                    <a:p>
                      <a:pPr>
                        <a:buNone/>
                      </a:pPr>
                      <a:r>
                        <a:rPr lang="en-US"/>
                        <a:t>72% AUC (derm-level)</a:t>
                      </a:r>
                    </a:p>
                  </a:txBody>
                  <a:tcPr anchor="ctr"/>
                </a:tc>
                <a:tc>
                  <a:txBody>
                    <a:bodyPr/>
                    <a:lstStyle/>
                    <a:p>
                      <a:pPr>
                        <a:buNone/>
                      </a:pPr>
                      <a:r>
                        <a:rPr lang="en-US"/>
                        <a:t>Requires large data</a:t>
                      </a:r>
                    </a:p>
                  </a:txBody>
                  <a:tcPr anchor="ctr"/>
                </a:tc>
                <a:extLst>
                  <a:ext uri="{0D108BD9-81ED-4DB2-BD59-A6C34878D82A}">
                    <a16:rowId xmlns:a16="http://schemas.microsoft.com/office/drawing/2014/main" val="1811345368"/>
                  </a:ext>
                </a:extLst>
              </a:tr>
              <a:tr h="532117">
                <a:tc>
                  <a:txBody>
                    <a:bodyPr/>
                    <a:lstStyle/>
                    <a:p>
                      <a:pPr>
                        <a:buNone/>
                      </a:pPr>
                      <a:r>
                        <a:rPr lang="en-US"/>
                        <a:t>Chandran &amp; Thomas (2022)</a:t>
                      </a:r>
                    </a:p>
                  </a:txBody>
                  <a:tcPr anchor="ctr"/>
                </a:tc>
                <a:tc>
                  <a:txBody>
                    <a:bodyPr/>
                    <a:lstStyle/>
                    <a:p>
                      <a:pPr>
                        <a:buNone/>
                      </a:pPr>
                      <a:r>
                        <a:rPr lang="en-US"/>
                        <a:t>CNN + SVM</a:t>
                      </a:r>
                    </a:p>
                  </a:txBody>
                  <a:tcPr anchor="ctr"/>
                </a:tc>
                <a:tc>
                  <a:txBody>
                    <a:bodyPr/>
                    <a:lstStyle/>
                    <a:p>
                      <a:pPr>
                        <a:buNone/>
                      </a:pPr>
                      <a:r>
                        <a:rPr lang="en-US"/>
                        <a:t>ISIC</a:t>
                      </a:r>
                    </a:p>
                  </a:txBody>
                  <a:tcPr anchor="ctr"/>
                </a:tc>
                <a:tc>
                  <a:txBody>
                    <a:bodyPr/>
                    <a:lstStyle/>
                    <a:p>
                      <a:pPr>
                        <a:buNone/>
                      </a:pPr>
                      <a:r>
                        <a:rPr lang="en-US"/>
                        <a:t>87%</a:t>
                      </a:r>
                    </a:p>
                  </a:txBody>
                  <a:tcPr anchor="ctr"/>
                </a:tc>
                <a:tc>
                  <a:txBody>
                    <a:bodyPr/>
                    <a:lstStyle/>
                    <a:p>
                      <a:pPr>
                        <a:buNone/>
                      </a:pPr>
                      <a:r>
                        <a:rPr lang="en-US"/>
                        <a:t>Limited scalability</a:t>
                      </a:r>
                    </a:p>
                  </a:txBody>
                  <a:tcPr anchor="ctr"/>
                </a:tc>
                <a:extLst>
                  <a:ext uri="{0D108BD9-81ED-4DB2-BD59-A6C34878D82A}">
                    <a16:rowId xmlns:a16="http://schemas.microsoft.com/office/drawing/2014/main" val="3965198970"/>
                  </a:ext>
                </a:extLst>
              </a:tr>
              <a:tr h="532117">
                <a:tc>
                  <a:txBody>
                    <a:bodyPr/>
                    <a:lstStyle/>
                    <a:p>
                      <a:pPr>
                        <a:buNone/>
                      </a:pPr>
                      <a:r>
                        <a:rPr lang="en-US"/>
                        <a:t>Mahbod et al. (2021)</a:t>
                      </a:r>
                    </a:p>
                  </a:txBody>
                  <a:tcPr anchor="ctr"/>
                </a:tc>
                <a:tc>
                  <a:txBody>
                    <a:bodyPr/>
                    <a:lstStyle/>
                    <a:p>
                      <a:pPr>
                        <a:buNone/>
                      </a:pPr>
                      <a:r>
                        <a:rPr lang="en-US"/>
                        <a:t>Ensemble CNNs</a:t>
                      </a:r>
                    </a:p>
                  </a:txBody>
                  <a:tcPr anchor="ctr"/>
                </a:tc>
                <a:tc>
                  <a:txBody>
                    <a:bodyPr/>
                    <a:lstStyle/>
                    <a:p>
                      <a:pPr>
                        <a:buNone/>
                      </a:pPr>
                      <a:r>
                        <a:rPr lang="en-US"/>
                        <a:t>ISIC, HAM</a:t>
                      </a:r>
                    </a:p>
                  </a:txBody>
                  <a:tcPr anchor="ctr"/>
                </a:tc>
                <a:tc>
                  <a:txBody>
                    <a:bodyPr/>
                    <a:lstStyle/>
                    <a:p>
                      <a:pPr>
                        <a:buNone/>
                      </a:pPr>
                      <a:r>
                        <a:rPr lang="en-US"/>
                        <a:t>89%</a:t>
                      </a:r>
                    </a:p>
                  </a:txBody>
                  <a:tcPr anchor="ctr"/>
                </a:tc>
                <a:tc>
                  <a:txBody>
                    <a:bodyPr/>
                    <a:lstStyle/>
                    <a:p>
                      <a:pPr>
                        <a:buNone/>
                      </a:pPr>
                      <a:r>
                        <a:rPr lang="en-US"/>
                        <a:t>Computationally heavy</a:t>
                      </a:r>
                    </a:p>
                  </a:txBody>
                  <a:tcPr anchor="ctr"/>
                </a:tc>
                <a:extLst>
                  <a:ext uri="{0D108BD9-81ED-4DB2-BD59-A6C34878D82A}">
                    <a16:rowId xmlns:a16="http://schemas.microsoft.com/office/drawing/2014/main" val="926053902"/>
                  </a:ext>
                </a:extLst>
              </a:tr>
              <a:tr h="532117">
                <a:tc>
                  <a:txBody>
                    <a:bodyPr/>
                    <a:lstStyle/>
                    <a:p>
                      <a:pPr>
                        <a:buNone/>
                      </a:pPr>
                      <a:r>
                        <a:rPr lang="en-US"/>
                        <a:t>Xie et al. (2020)</a:t>
                      </a:r>
                    </a:p>
                  </a:txBody>
                  <a:tcPr anchor="ctr"/>
                </a:tc>
                <a:tc>
                  <a:txBody>
                    <a:bodyPr/>
                    <a:lstStyle/>
                    <a:p>
                      <a:pPr>
                        <a:buNone/>
                      </a:pPr>
                      <a:r>
                        <a:rPr lang="en-US"/>
                        <a:t>Attention-CNN</a:t>
                      </a:r>
                    </a:p>
                  </a:txBody>
                  <a:tcPr anchor="ctr"/>
                </a:tc>
                <a:tc>
                  <a:txBody>
                    <a:bodyPr/>
                    <a:lstStyle/>
                    <a:p>
                      <a:pPr>
                        <a:buNone/>
                      </a:pPr>
                      <a:r>
                        <a:rPr lang="en-US"/>
                        <a:t>ISIC</a:t>
                      </a:r>
                    </a:p>
                  </a:txBody>
                  <a:tcPr anchor="ctr"/>
                </a:tc>
                <a:tc>
                  <a:txBody>
                    <a:bodyPr/>
                    <a:lstStyle/>
                    <a:p>
                      <a:pPr>
                        <a:buNone/>
                      </a:pPr>
                      <a:r>
                        <a:rPr lang="en-US"/>
                        <a:t>85%</a:t>
                      </a:r>
                    </a:p>
                  </a:txBody>
                  <a:tcPr anchor="ctr"/>
                </a:tc>
                <a:tc>
                  <a:txBody>
                    <a:bodyPr/>
                    <a:lstStyle/>
                    <a:p>
                      <a:pPr>
                        <a:buNone/>
                      </a:pPr>
                      <a:r>
                        <a:rPr lang="en-US"/>
                        <a:t>Lacks metadata fusion</a:t>
                      </a:r>
                    </a:p>
                  </a:txBody>
                  <a:tcPr anchor="ctr"/>
                </a:tc>
                <a:extLst>
                  <a:ext uri="{0D108BD9-81ED-4DB2-BD59-A6C34878D82A}">
                    <a16:rowId xmlns:a16="http://schemas.microsoft.com/office/drawing/2014/main" val="796497379"/>
                  </a:ext>
                </a:extLst>
              </a:tr>
              <a:tr h="532117">
                <a:tc>
                  <a:txBody>
                    <a:bodyPr/>
                    <a:lstStyle/>
                    <a:p>
                      <a:pPr>
                        <a:buNone/>
                      </a:pPr>
                      <a:r>
                        <a:rPr lang="en-US"/>
                        <a:t>Almaraz-Damian et al. (2020)</a:t>
                      </a:r>
                    </a:p>
                  </a:txBody>
                  <a:tcPr anchor="ctr"/>
                </a:tc>
                <a:tc>
                  <a:txBody>
                    <a:bodyPr/>
                    <a:lstStyle/>
                    <a:p>
                      <a:pPr>
                        <a:buNone/>
                      </a:pPr>
                      <a:r>
                        <a:rPr lang="en-US"/>
                        <a:t>Feature fusion (DL+handcrafted)</a:t>
                      </a:r>
                    </a:p>
                  </a:txBody>
                  <a:tcPr anchor="ctr"/>
                </a:tc>
                <a:tc>
                  <a:txBody>
                    <a:bodyPr/>
                    <a:lstStyle/>
                    <a:p>
                      <a:pPr>
                        <a:buNone/>
                      </a:pPr>
                      <a:r>
                        <a:rPr lang="en-US"/>
                        <a:t>HAM</a:t>
                      </a:r>
                    </a:p>
                  </a:txBody>
                  <a:tcPr anchor="ctr"/>
                </a:tc>
                <a:tc>
                  <a:txBody>
                    <a:bodyPr/>
                    <a:lstStyle/>
                    <a:p>
                      <a:pPr>
                        <a:buNone/>
                      </a:pPr>
                      <a:r>
                        <a:rPr lang="en-US"/>
                        <a:t>83%</a:t>
                      </a:r>
                    </a:p>
                  </a:txBody>
                  <a:tcPr anchor="ctr"/>
                </a:tc>
                <a:tc>
                  <a:txBody>
                    <a:bodyPr/>
                    <a:lstStyle/>
                    <a:p>
                      <a:pPr>
                        <a:buNone/>
                      </a:pPr>
                      <a:r>
                        <a:rPr lang="en-US"/>
                        <a:t>Complex pipeline</a:t>
                      </a:r>
                    </a:p>
                  </a:txBody>
                  <a:tcPr anchor="ctr"/>
                </a:tc>
                <a:extLst>
                  <a:ext uri="{0D108BD9-81ED-4DB2-BD59-A6C34878D82A}">
                    <a16:rowId xmlns:a16="http://schemas.microsoft.com/office/drawing/2014/main" val="3117461949"/>
                  </a:ext>
                </a:extLst>
              </a:tr>
            </a:tbl>
          </a:graphicData>
        </a:graphic>
      </p:graphicFrame>
      <p:sp>
        <p:nvSpPr>
          <p:cNvPr id="5" name="TextBox 4">
            <a:extLst>
              <a:ext uri="{FF2B5EF4-FFF2-40B4-BE49-F238E27FC236}">
                <a16:creationId xmlns:a16="http://schemas.microsoft.com/office/drawing/2014/main" id="{1680AC56-CCE5-83E8-E345-98A368541847}"/>
              </a:ext>
            </a:extLst>
          </p:cNvPr>
          <p:cNvSpPr txBox="1"/>
          <p:nvPr/>
        </p:nvSpPr>
        <p:spPr>
          <a:xfrm>
            <a:off x="2448697" y="1285102"/>
            <a:ext cx="6254576"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dirty="0">
                <a:latin typeface="Times New Roman"/>
              </a:rPr>
              <a:t>Literature Survey </a:t>
            </a:r>
          </a:p>
          <a:p>
            <a:endParaRPr lang="en-US"/>
          </a:p>
        </p:txBody>
      </p:sp>
    </p:spTree>
    <p:extLst>
      <p:ext uri="{BB962C8B-B14F-4D97-AF65-F5344CB8AC3E}">
        <p14:creationId xmlns:p14="http://schemas.microsoft.com/office/powerpoint/2010/main" val="29905971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2">
          <a:extLst>
            <a:ext uri="{FF2B5EF4-FFF2-40B4-BE49-F238E27FC236}">
              <a16:creationId xmlns:a16="http://schemas.microsoft.com/office/drawing/2014/main" id="{514B7C13-EFF9-F3E3-B379-863AFBFA25CC}"/>
            </a:ext>
          </a:extLst>
        </p:cNvPr>
        <p:cNvGrpSpPr/>
        <p:nvPr/>
      </p:nvGrpSpPr>
      <p:grpSpPr>
        <a:xfrm>
          <a:off x="0" y="0"/>
          <a:ext cx="0" cy="0"/>
          <a:chOff x="0" y="0"/>
          <a:chExt cx="0" cy="0"/>
        </a:xfrm>
      </p:grpSpPr>
      <p:sp>
        <p:nvSpPr>
          <p:cNvPr id="203" name="Google Shape;203;g22f13355470_0_53">
            <a:extLst>
              <a:ext uri="{FF2B5EF4-FFF2-40B4-BE49-F238E27FC236}">
                <a16:creationId xmlns:a16="http://schemas.microsoft.com/office/drawing/2014/main" id="{191B386B-2D51-AC7D-B291-222ADD09182F}"/>
              </a:ext>
            </a:extLst>
          </p:cNvPr>
          <p:cNvSpPr txBox="1">
            <a:spLocks noGrp="1"/>
          </p:cNvSpPr>
          <p:nvPr>
            <p:ph type="title"/>
          </p:nvPr>
        </p:nvSpPr>
        <p:spPr>
          <a:xfrm flipH="1">
            <a:off x="319913" y="2034074"/>
            <a:ext cx="8497329" cy="4327985"/>
          </a:xfrm>
          <a:prstGeom prst="rect">
            <a:avLst/>
          </a:prstGeom>
        </p:spPr>
        <p:txBody>
          <a:bodyPr spcFirstLastPara="1" wrap="square" lIns="91425" tIns="45700" rIns="91425" bIns="45700" anchor="ctr" anchorCtr="0">
            <a:normAutofit/>
          </a:bodyPr>
          <a:lstStyle/>
          <a:p>
            <a:pPr algn="l"/>
            <a:endParaRPr lang="en-IN"/>
          </a:p>
          <a:p>
            <a:pPr algn="just"/>
            <a:r>
              <a:rPr lang="en-IN" sz="1600" b="0" dirty="0">
                <a:latin typeface="Arial"/>
              </a:rPr>
              <a:t>Early and accurate diagnosis of skin </a:t>
            </a:r>
            <a:r>
              <a:rPr lang="en-US" sz="1600" b="0" dirty="0">
                <a:latin typeface="Arial"/>
                <a:cs typeface="Arial"/>
              </a:rPr>
              <a:t>disease</a:t>
            </a:r>
            <a:r>
              <a:rPr lang="en-IN" sz="1600" b="0" dirty="0">
                <a:latin typeface="Arial"/>
              </a:rPr>
              <a:t>—especially melanoma—is vital for patient survival but remains difficult due to the similar appearance of benign and malignant lesions. Manual assessment by dermatologists is time-consuming, subjective, and limited by availability. Deep learning offers automated diagnosis but struggles with data imbalance and capturing both local and global features. While CNNs capture local texture and patterns, Vision Transformers excel at </a:t>
            </a:r>
            <a:r>
              <a:rPr lang="en-IN" sz="1600" b="0" dirty="0" err="1">
                <a:latin typeface="Arial"/>
              </a:rPr>
              <a:t>modeling</a:t>
            </a:r>
            <a:r>
              <a:rPr lang="en-IN" sz="1600" b="0" dirty="0">
                <a:latin typeface="Arial"/>
              </a:rPr>
              <a:t> global context but require larger datasets. A hybrid approach combining ResNet-50 and Vision Transformer can address these limitations, providing a scalable, interpretable system that balances fine-grained local details with overall image context to improve classification accuracy across all lesion types, including rare and challenging categories. This project aims to leverage this hybrid model on the HAM10000 </a:t>
            </a:r>
            <a:r>
              <a:rPr lang="en-IN" sz="1600" b="0" dirty="0" err="1">
                <a:latin typeface="Arial"/>
              </a:rPr>
              <a:t>dermoscopic</a:t>
            </a:r>
            <a:r>
              <a:rPr lang="en-IN" sz="1600" b="0" dirty="0">
                <a:latin typeface="Arial"/>
              </a:rPr>
              <a:t> image dataset to support dermatologists in faster and more accurate skin </a:t>
            </a:r>
            <a:r>
              <a:rPr lang="en-US" sz="1600" b="0" dirty="0">
                <a:latin typeface="Arial"/>
                <a:cs typeface="Arial"/>
              </a:rPr>
              <a:t>disease</a:t>
            </a:r>
            <a:r>
              <a:rPr lang="en-IN" sz="1600" b="0" dirty="0">
                <a:latin typeface="Arial"/>
              </a:rPr>
              <a:t> classification.</a:t>
            </a:r>
          </a:p>
          <a:p>
            <a:pPr marL="285750" indent="-285750" algn="just">
              <a:buFont typeface="Arial"/>
              <a:buChar char="•"/>
            </a:pPr>
            <a:endParaRPr lang="en-IN" sz="1600" b="0" dirty="0">
              <a:latin typeface="Arial"/>
            </a:endParaRPr>
          </a:p>
          <a:p>
            <a:pPr marL="285750" indent="-285750" algn="just">
              <a:buFont typeface="Arial"/>
              <a:buChar char="•"/>
            </a:pPr>
            <a:endParaRPr lang="en-IN" sz="1800" b="0"/>
          </a:p>
          <a:p>
            <a:pPr algn="l"/>
            <a:endParaRPr lang="en-IN" sz="1800" b="0">
              <a:latin typeface="Arial"/>
              <a:cs typeface="Arial"/>
            </a:endParaRPr>
          </a:p>
        </p:txBody>
      </p:sp>
      <p:sp>
        <p:nvSpPr>
          <p:cNvPr id="204" name="Google Shape;204;g22f13355470_0_53">
            <a:extLst>
              <a:ext uri="{FF2B5EF4-FFF2-40B4-BE49-F238E27FC236}">
                <a16:creationId xmlns:a16="http://schemas.microsoft.com/office/drawing/2014/main" id="{20514021-DA63-7490-87C7-D825A2BE8B09}"/>
              </a:ext>
            </a:extLst>
          </p:cNvPr>
          <p:cNvSpPr txBox="1">
            <a:spLocks noGrp="1"/>
          </p:cNvSpPr>
          <p:nvPr>
            <p:ph type="sldNum" idx="12"/>
          </p:nvPr>
        </p:nvSpPr>
        <p:spPr>
          <a:xfrm>
            <a:off x="6079524" y="8360924"/>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050"/>
              <a:buFont typeface="Arial"/>
              <a:buNone/>
            </a:pPr>
            <a:fld id="{00000000-1234-1234-1234-123412341234}" type="slidenum">
              <a:rPr lang="en-IN"/>
              <a:t>5</a:t>
            </a:fld>
            <a:endParaRPr/>
          </a:p>
        </p:txBody>
      </p:sp>
      <p:sp>
        <p:nvSpPr>
          <p:cNvPr id="2" name="TextBox 1">
            <a:extLst>
              <a:ext uri="{FF2B5EF4-FFF2-40B4-BE49-F238E27FC236}">
                <a16:creationId xmlns:a16="http://schemas.microsoft.com/office/drawing/2014/main" id="{BBFFB33E-3E4B-49B8-30F1-4505199F8899}"/>
              </a:ext>
            </a:extLst>
          </p:cNvPr>
          <p:cNvSpPr txBox="1"/>
          <p:nvPr/>
        </p:nvSpPr>
        <p:spPr>
          <a:xfrm>
            <a:off x="2669629" y="1395614"/>
            <a:ext cx="401886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3600" b="1">
                <a:latin typeface="Times New Roman"/>
                <a:cs typeface="Times New Roman"/>
              </a:rPr>
              <a:t>Problem Statement</a:t>
            </a:r>
            <a:endParaRPr lang="en-US" sz="3600" b="1"/>
          </a:p>
        </p:txBody>
      </p:sp>
    </p:spTree>
    <p:extLst>
      <p:ext uri="{BB962C8B-B14F-4D97-AF65-F5344CB8AC3E}">
        <p14:creationId xmlns:p14="http://schemas.microsoft.com/office/powerpoint/2010/main" val="23886858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2">
          <a:extLst>
            <a:ext uri="{FF2B5EF4-FFF2-40B4-BE49-F238E27FC236}">
              <a16:creationId xmlns:a16="http://schemas.microsoft.com/office/drawing/2014/main" id="{89583051-68F8-B5C3-12F0-DCD7F5C68FFA}"/>
            </a:ext>
          </a:extLst>
        </p:cNvPr>
        <p:cNvGrpSpPr/>
        <p:nvPr/>
      </p:nvGrpSpPr>
      <p:grpSpPr>
        <a:xfrm>
          <a:off x="0" y="0"/>
          <a:ext cx="0" cy="0"/>
          <a:chOff x="0" y="0"/>
          <a:chExt cx="0" cy="0"/>
        </a:xfrm>
      </p:grpSpPr>
      <p:sp>
        <p:nvSpPr>
          <p:cNvPr id="203" name="Google Shape;203;g22f13355470_0_53">
            <a:extLst>
              <a:ext uri="{FF2B5EF4-FFF2-40B4-BE49-F238E27FC236}">
                <a16:creationId xmlns:a16="http://schemas.microsoft.com/office/drawing/2014/main" id="{7F574885-4037-E84F-C35C-FBC6CA32A8EA}"/>
              </a:ext>
            </a:extLst>
          </p:cNvPr>
          <p:cNvSpPr txBox="1">
            <a:spLocks noGrp="1"/>
          </p:cNvSpPr>
          <p:nvPr>
            <p:ph type="title"/>
          </p:nvPr>
        </p:nvSpPr>
        <p:spPr>
          <a:xfrm flipH="1">
            <a:off x="1988625" y="1521690"/>
            <a:ext cx="5181600" cy="198770"/>
          </a:xfrm>
          <a:prstGeom prst="rect">
            <a:avLst/>
          </a:prstGeom>
        </p:spPr>
        <p:txBody>
          <a:bodyPr spcFirstLastPara="1" wrap="square" lIns="91425" tIns="45700" rIns="91425" bIns="45700" anchor="ctr" anchorCtr="0">
            <a:noAutofit/>
          </a:bodyPr>
          <a:lstStyle/>
          <a:p>
            <a:r>
              <a:rPr lang="en-IN" dirty="0">
                <a:latin typeface="Times New Roman"/>
              </a:rPr>
              <a:t>Objectives of Project</a:t>
            </a:r>
            <a:endParaRPr lang="en-US" dirty="0">
              <a:latin typeface="Times New Roman"/>
            </a:endParaRPr>
          </a:p>
        </p:txBody>
      </p:sp>
      <p:sp>
        <p:nvSpPr>
          <p:cNvPr id="204" name="Google Shape;204;g22f13355470_0_53">
            <a:extLst>
              <a:ext uri="{FF2B5EF4-FFF2-40B4-BE49-F238E27FC236}">
                <a16:creationId xmlns:a16="http://schemas.microsoft.com/office/drawing/2014/main" id="{6F708DD5-B1D2-320A-CAAD-6A374C449378}"/>
              </a:ext>
            </a:extLst>
          </p:cNvPr>
          <p:cNvSpPr txBox="1">
            <a:spLocks noGrp="1"/>
          </p:cNvSpPr>
          <p:nvPr>
            <p:ph type="sldNum" idx="12"/>
          </p:nvPr>
        </p:nvSpPr>
        <p:spPr>
          <a:xfrm>
            <a:off x="6553200" y="6373546"/>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050"/>
              <a:buFont typeface="Arial"/>
              <a:buNone/>
            </a:pPr>
            <a:fld id="{00000000-1234-1234-1234-123412341234}" type="slidenum">
              <a:rPr lang="en-IN"/>
              <a:t>6</a:t>
            </a:fld>
            <a:endParaRPr/>
          </a:p>
        </p:txBody>
      </p:sp>
      <p:sp>
        <p:nvSpPr>
          <p:cNvPr id="3" name="TextBox 2">
            <a:extLst>
              <a:ext uri="{FF2B5EF4-FFF2-40B4-BE49-F238E27FC236}">
                <a16:creationId xmlns:a16="http://schemas.microsoft.com/office/drawing/2014/main" id="{9AEEDB09-4E90-A73C-A61A-17651D1FE278}"/>
              </a:ext>
            </a:extLst>
          </p:cNvPr>
          <p:cNvSpPr txBox="1"/>
          <p:nvPr/>
        </p:nvSpPr>
        <p:spPr>
          <a:xfrm>
            <a:off x="656967" y="3211195"/>
            <a:ext cx="7819766" cy="24314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IN" sz="1200" kern="1200" dirty="0">
              <a:solidFill>
                <a:schemeClr val="tx1"/>
              </a:solidFill>
              <a:latin typeface="Calibri"/>
              <a:ea typeface="Calibri"/>
              <a:cs typeface="Calibri"/>
            </a:endParaRPr>
          </a:p>
          <a:p>
            <a:pPr>
              <a:buAutoNum type="arabicPeriod"/>
            </a:pPr>
            <a:endParaRPr lang="en-US" dirty="0">
              <a:solidFill>
                <a:schemeClr val="tx1"/>
              </a:solidFill>
              <a:ea typeface="Calibri"/>
            </a:endParaRPr>
          </a:p>
          <a:p>
            <a:pPr marL="342900" indent="-342900" algn="just">
              <a:buAutoNum type="arabicPeriod"/>
            </a:pPr>
            <a:r>
              <a:rPr lang="en-US" sz="1600" kern="1200" dirty="0">
                <a:solidFill>
                  <a:schemeClr val="tx1"/>
                </a:solidFill>
                <a:ea typeface="Calibri"/>
              </a:rPr>
              <a:t>To design and implement a hybrid deep learning model that combines ResNet-50 and Vision Transformer (</a:t>
            </a:r>
            <a:r>
              <a:rPr lang="en-US" sz="1600" kern="1200" dirty="0" err="1">
                <a:solidFill>
                  <a:schemeClr val="tx1"/>
                </a:solidFill>
                <a:ea typeface="Calibri"/>
              </a:rPr>
              <a:t>ViT</a:t>
            </a:r>
            <a:r>
              <a:rPr lang="en-US" sz="1600" kern="1200" dirty="0">
                <a:solidFill>
                  <a:schemeClr val="tx1"/>
                </a:solidFill>
                <a:ea typeface="Calibri"/>
              </a:rPr>
              <a:t>) for multiclass skin lesion classification using the HAM10000 dataset.</a:t>
            </a:r>
          </a:p>
          <a:p>
            <a:pPr marL="342900" indent="-342900" algn="just">
              <a:buAutoNum type="arabicPeriod"/>
            </a:pPr>
            <a:r>
              <a:rPr lang="en-US" sz="1600" kern="1200" dirty="0">
                <a:solidFill>
                  <a:schemeClr val="tx1"/>
                </a:solidFill>
                <a:ea typeface="Calibri"/>
              </a:rPr>
              <a:t>To address severe class imbalance in skin data by applying targeted augmentation and balancing strategies.</a:t>
            </a:r>
            <a:endParaRPr lang="en-US" sz="1600" dirty="0">
              <a:solidFill>
                <a:schemeClr val="tx1"/>
              </a:solidFill>
            </a:endParaRPr>
          </a:p>
          <a:p>
            <a:pPr marL="342900" indent="-342900" algn="just">
              <a:buAutoNum type="arabicPeriod"/>
            </a:pPr>
            <a:r>
              <a:rPr lang="en-US" sz="1600" kern="1200" dirty="0">
                <a:solidFill>
                  <a:schemeClr val="tx1"/>
                </a:solidFill>
                <a:ea typeface="Calibri"/>
              </a:rPr>
              <a:t>To build a scalable, interpretable, and clinically deployable AI solution for dermatological screening.</a:t>
            </a:r>
            <a:endParaRPr lang="en-US" sz="1600" dirty="0">
              <a:solidFill>
                <a:schemeClr val="tx1"/>
              </a:solidFill>
            </a:endParaRPr>
          </a:p>
          <a:p>
            <a:pPr marL="347345" indent="-347345">
              <a:buAutoNum type="arabicPeriod"/>
            </a:pPr>
            <a:endParaRPr lang="en-US" kern="1200" dirty="0">
              <a:solidFill>
                <a:schemeClr val="tx1"/>
              </a:solidFill>
              <a:latin typeface="Calibri"/>
              <a:ea typeface="Calibri"/>
              <a:cs typeface="Calibri"/>
            </a:endParaRPr>
          </a:p>
        </p:txBody>
      </p:sp>
      <p:sp>
        <p:nvSpPr>
          <p:cNvPr id="2" name="TextBox 1">
            <a:extLst>
              <a:ext uri="{FF2B5EF4-FFF2-40B4-BE49-F238E27FC236}">
                <a16:creationId xmlns:a16="http://schemas.microsoft.com/office/drawing/2014/main" id="{98920720-800C-481A-A4F0-8749F9D26D37}"/>
              </a:ext>
            </a:extLst>
          </p:cNvPr>
          <p:cNvSpPr txBox="1"/>
          <p:nvPr/>
        </p:nvSpPr>
        <p:spPr>
          <a:xfrm>
            <a:off x="691980" y="2374431"/>
            <a:ext cx="7795053" cy="12926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600" dirty="0"/>
              <a:t>Aim is to propose to develop skin diseases detection system using detection algorithms and observe and improve the parameters like accuracy</a:t>
            </a:r>
            <a:r>
              <a:rPr lang="en-US" sz="1600" dirty="0">
                <a:solidFill>
                  <a:schemeClr val="tx1"/>
                </a:solidFill>
              </a:rPr>
              <a:t>, precision, recall, F1-score, and confusion matrix evaluations.</a:t>
            </a:r>
            <a:endParaRPr lang="en-US" sz="1600" dirty="0"/>
          </a:p>
          <a:p>
            <a:endParaRPr lang="en-US" sz="1600" dirty="0"/>
          </a:p>
          <a:p>
            <a:pPr algn="ctr"/>
            <a:endParaRPr lang="en-US" dirty="0"/>
          </a:p>
        </p:txBody>
      </p:sp>
    </p:spTree>
    <p:extLst>
      <p:ext uri="{BB962C8B-B14F-4D97-AF65-F5344CB8AC3E}">
        <p14:creationId xmlns:p14="http://schemas.microsoft.com/office/powerpoint/2010/main" val="9027646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2">
          <a:extLst>
            <a:ext uri="{FF2B5EF4-FFF2-40B4-BE49-F238E27FC236}">
              <a16:creationId xmlns:a16="http://schemas.microsoft.com/office/drawing/2014/main" id="{A4FF6963-6FD7-9378-8DFF-71684AC97CE2}"/>
            </a:ext>
          </a:extLst>
        </p:cNvPr>
        <p:cNvGrpSpPr/>
        <p:nvPr/>
      </p:nvGrpSpPr>
      <p:grpSpPr>
        <a:xfrm>
          <a:off x="0" y="0"/>
          <a:ext cx="0" cy="0"/>
          <a:chOff x="0" y="0"/>
          <a:chExt cx="0" cy="0"/>
        </a:xfrm>
      </p:grpSpPr>
      <p:sp>
        <p:nvSpPr>
          <p:cNvPr id="203" name="Google Shape;203;g22f13355470_0_53">
            <a:extLst>
              <a:ext uri="{FF2B5EF4-FFF2-40B4-BE49-F238E27FC236}">
                <a16:creationId xmlns:a16="http://schemas.microsoft.com/office/drawing/2014/main" id="{BE882150-4828-B7FA-35D3-3692CFB4EFD7}"/>
              </a:ext>
            </a:extLst>
          </p:cNvPr>
          <p:cNvSpPr txBox="1">
            <a:spLocks noGrp="1"/>
          </p:cNvSpPr>
          <p:nvPr>
            <p:ph type="title"/>
          </p:nvPr>
        </p:nvSpPr>
        <p:spPr>
          <a:xfrm flipH="1">
            <a:off x="115899" y="1273176"/>
            <a:ext cx="8909218" cy="816608"/>
          </a:xfrm>
          <a:prstGeom prst="rect">
            <a:avLst/>
          </a:prstGeom>
        </p:spPr>
        <p:txBody>
          <a:bodyPr spcFirstLastPara="1" wrap="square" lIns="91425" tIns="45700" rIns="91425" bIns="45700" anchor="ctr" anchorCtr="0">
            <a:normAutofit/>
          </a:bodyPr>
          <a:lstStyle/>
          <a:p>
            <a:r>
              <a:rPr lang="en-IN" dirty="0">
                <a:latin typeface="Times New Roman"/>
              </a:rPr>
              <a:t>System Architecture / Workflow</a:t>
            </a:r>
            <a:endParaRPr lang="en-US" dirty="0">
              <a:latin typeface="Times New Roman"/>
            </a:endParaRPr>
          </a:p>
        </p:txBody>
      </p:sp>
      <p:sp>
        <p:nvSpPr>
          <p:cNvPr id="204" name="Google Shape;204;g22f13355470_0_53">
            <a:extLst>
              <a:ext uri="{FF2B5EF4-FFF2-40B4-BE49-F238E27FC236}">
                <a16:creationId xmlns:a16="http://schemas.microsoft.com/office/drawing/2014/main" id="{9B46E385-308F-14AD-D10A-5E5F0430575D}"/>
              </a:ext>
            </a:extLst>
          </p:cNvPr>
          <p:cNvSpPr txBox="1">
            <a:spLocks noGrp="1"/>
          </p:cNvSpPr>
          <p:nvPr>
            <p:ph type="sldNum" idx="12"/>
          </p:nvPr>
        </p:nvSpPr>
        <p:spPr>
          <a:xfrm>
            <a:off x="6553200" y="6373546"/>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050"/>
              <a:buFont typeface="Arial"/>
              <a:buNone/>
            </a:pPr>
            <a:fld id="{00000000-1234-1234-1234-123412341234}" type="slidenum">
              <a:rPr lang="en-IN"/>
              <a:t>7</a:t>
            </a:fld>
            <a:endParaRPr/>
          </a:p>
        </p:txBody>
      </p:sp>
      <p:pic>
        <p:nvPicPr>
          <p:cNvPr id="3" name="Picture 2" descr="A diagram of a software process&#10;&#10;AI-generated content may be incorrect.">
            <a:extLst>
              <a:ext uri="{FF2B5EF4-FFF2-40B4-BE49-F238E27FC236}">
                <a16:creationId xmlns:a16="http://schemas.microsoft.com/office/drawing/2014/main" id="{12004B85-746D-F2E3-47AE-72ADF2B828B6}"/>
              </a:ext>
            </a:extLst>
          </p:cNvPr>
          <p:cNvPicPr>
            <a:picLocks noChangeAspect="1"/>
          </p:cNvPicPr>
          <p:nvPr/>
        </p:nvPicPr>
        <p:blipFill>
          <a:blip r:embed="rId3"/>
          <a:stretch>
            <a:fillRect/>
          </a:stretch>
        </p:blipFill>
        <p:spPr>
          <a:xfrm>
            <a:off x="2514600" y="2084908"/>
            <a:ext cx="3829050" cy="4467225"/>
          </a:xfrm>
          <a:prstGeom prst="rect">
            <a:avLst/>
          </a:prstGeom>
        </p:spPr>
      </p:pic>
    </p:spTree>
    <p:extLst>
      <p:ext uri="{BB962C8B-B14F-4D97-AF65-F5344CB8AC3E}">
        <p14:creationId xmlns:p14="http://schemas.microsoft.com/office/powerpoint/2010/main" val="36949781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2">
          <a:extLst>
            <a:ext uri="{FF2B5EF4-FFF2-40B4-BE49-F238E27FC236}">
              <a16:creationId xmlns:a16="http://schemas.microsoft.com/office/drawing/2014/main" id="{1A1800CC-9EF6-3FE7-A93E-F5D36E251698}"/>
            </a:ext>
          </a:extLst>
        </p:cNvPr>
        <p:cNvGrpSpPr/>
        <p:nvPr/>
      </p:nvGrpSpPr>
      <p:grpSpPr>
        <a:xfrm>
          <a:off x="0" y="0"/>
          <a:ext cx="0" cy="0"/>
          <a:chOff x="0" y="0"/>
          <a:chExt cx="0" cy="0"/>
        </a:xfrm>
      </p:grpSpPr>
      <p:sp>
        <p:nvSpPr>
          <p:cNvPr id="204" name="Google Shape;204;g22f13355470_0_53">
            <a:extLst>
              <a:ext uri="{FF2B5EF4-FFF2-40B4-BE49-F238E27FC236}">
                <a16:creationId xmlns:a16="http://schemas.microsoft.com/office/drawing/2014/main" id="{7F71E262-0534-8495-93AB-0C52ED0D9FEC}"/>
              </a:ext>
            </a:extLst>
          </p:cNvPr>
          <p:cNvSpPr txBox="1">
            <a:spLocks noGrp="1"/>
          </p:cNvSpPr>
          <p:nvPr>
            <p:ph type="sldNum" idx="12"/>
          </p:nvPr>
        </p:nvSpPr>
        <p:spPr>
          <a:xfrm>
            <a:off x="6553200" y="6373546"/>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050"/>
              <a:buFont typeface="Arial"/>
              <a:buNone/>
            </a:pPr>
            <a:fld id="{00000000-1234-1234-1234-123412341234}" type="slidenum">
              <a:rPr lang="en-IN"/>
              <a:t>8</a:t>
            </a:fld>
            <a:endParaRPr/>
          </a:p>
        </p:txBody>
      </p:sp>
      <p:sp>
        <p:nvSpPr>
          <p:cNvPr id="4" name="Title 3">
            <a:extLst>
              <a:ext uri="{FF2B5EF4-FFF2-40B4-BE49-F238E27FC236}">
                <a16:creationId xmlns:a16="http://schemas.microsoft.com/office/drawing/2014/main" id="{45A641AB-15C8-2553-F64C-8FDC16EFCC2F}"/>
              </a:ext>
            </a:extLst>
          </p:cNvPr>
          <p:cNvSpPr>
            <a:spLocks noGrp="1"/>
          </p:cNvSpPr>
          <p:nvPr>
            <p:ph type="title"/>
          </p:nvPr>
        </p:nvSpPr>
        <p:spPr>
          <a:xfrm>
            <a:off x="282147" y="2036804"/>
            <a:ext cx="8054544" cy="3777048"/>
          </a:xfrm>
        </p:spPr>
        <p:txBody>
          <a:bodyPr spcFirstLastPara="1" wrap="square" lIns="91425" tIns="45700" rIns="91425" bIns="45700" anchor="ctr" anchorCtr="0">
            <a:noAutofit/>
          </a:bodyPr>
          <a:lstStyle/>
          <a:p>
            <a:pPr marL="342900" indent="-342900" algn="l">
              <a:buAutoNum type="arabicPeriod"/>
            </a:pPr>
            <a:r>
              <a:rPr lang="en-US" sz="1600" b="0" dirty="0">
                <a:latin typeface="Arial"/>
              </a:rPr>
              <a:t>Dataset: HAM10000 (</a:t>
            </a:r>
            <a:r>
              <a:rPr lang="en-US" sz="1600" b="0" i="1" dirty="0">
                <a:latin typeface="Arial"/>
              </a:rPr>
              <a:t>Human Against Machine with 10000 training images</a:t>
            </a:r>
            <a:r>
              <a:rPr lang="en-US" sz="1600" b="0" dirty="0">
                <a:latin typeface="Arial"/>
              </a:rPr>
              <a:t>) 10,015 </a:t>
            </a:r>
            <a:r>
              <a:rPr lang="en-US" sz="1600" b="0" err="1">
                <a:latin typeface="Arial"/>
              </a:rPr>
              <a:t>dermoscopic</a:t>
            </a:r>
            <a:r>
              <a:rPr lang="en-US" sz="1600" b="0" dirty="0">
                <a:latin typeface="Arial"/>
              </a:rPr>
              <a:t> images, 7 classes:</a:t>
            </a:r>
            <a:endParaRPr lang="en-US" sz="2000" b="0"/>
          </a:p>
          <a:p>
            <a:pPr lvl="1"/>
            <a:r>
              <a:rPr lang="en-US" sz="1600" dirty="0"/>
              <a:t>          1. NV (Melanocytic Nevi)</a:t>
            </a:r>
            <a:endParaRPr lang="en-US" dirty="0"/>
          </a:p>
          <a:p>
            <a:pPr lvl="1"/>
            <a:r>
              <a:rPr lang="en-US" sz="1600" dirty="0"/>
              <a:t>          2.MEL (Melanoma)</a:t>
            </a:r>
            <a:endParaRPr lang="en-US" dirty="0"/>
          </a:p>
          <a:p>
            <a:pPr lvl="1"/>
            <a:r>
              <a:rPr lang="en-US" sz="1600" dirty="0"/>
              <a:t>          3.BKL (Benign keratosis-like)</a:t>
            </a:r>
            <a:endParaRPr lang="en-US" dirty="0"/>
          </a:p>
          <a:p>
            <a:pPr lvl="1"/>
            <a:r>
              <a:rPr lang="en-US" sz="1600" dirty="0"/>
              <a:t>          4. BCC (Basal Cell Carcinoma)</a:t>
            </a:r>
            <a:endParaRPr lang="en-US" dirty="0"/>
          </a:p>
          <a:p>
            <a:pPr lvl="1"/>
            <a:r>
              <a:rPr lang="en-US" sz="1600" dirty="0"/>
              <a:t>          5.AKIEC (Actinic Keratoses)</a:t>
            </a:r>
            <a:endParaRPr lang="en-US" dirty="0"/>
          </a:p>
          <a:p>
            <a:pPr lvl="1"/>
            <a:r>
              <a:rPr lang="en-US" sz="1600" dirty="0"/>
              <a:t>          6.VASC (Vascular Lesions)</a:t>
            </a:r>
            <a:endParaRPr lang="en-US" dirty="0"/>
          </a:p>
          <a:p>
            <a:pPr lvl="1"/>
            <a:r>
              <a:rPr lang="en-US" sz="1600" dirty="0"/>
              <a:t>          7.DF (Dermatofibroma)</a:t>
            </a:r>
            <a:endParaRPr lang="en-US" dirty="0"/>
          </a:p>
          <a:p>
            <a:pPr algn="l"/>
            <a:r>
              <a:rPr lang="en-US" sz="1600" b="0" dirty="0">
                <a:latin typeface="Arial"/>
              </a:rPr>
              <a:t>2.   Metadata: Age, Sex, Localization (body part )</a:t>
            </a:r>
            <a:br>
              <a:rPr lang="en-US" sz="1600" b="0" dirty="0">
                <a:latin typeface="Arial"/>
              </a:rPr>
            </a:br>
            <a:r>
              <a:rPr lang="en-US" sz="1600" b="0" dirty="0">
                <a:latin typeface="Arial"/>
              </a:rPr>
              <a:t>3.   Challenges: Class imbalance, varied image resolutions</a:t>
            </a:r>
            <a:endParaRPr lang="en-US" dirty="0"/>
          </a:p>
          <a:p>
            <a:endParaRPr lang="en-US"/>
          </a:p>
        </p:txBody>
      </p:sp>
      <p:sp>
        <p:nvSpPr>
          <p:cNvPr id="2" name="TextBox 1">
            <a:extLst>
              <a:ext uri="{FF2B5EF4-FFF2-40B4-BE49-F238E27FC236}">
                <a16:creationId xmlns:a16="http://schemas.microsoft.com/office/drawing/2014/main" id="{54FE9DFC-BA99-1E5D-07F8-7A423FE230FF}"/>
              </a:ext>
            </a:extLst>
          </p:cNvPr>
          <p:cNvSpPr txBox="1"/>
          <p:nvPr/>
        </p:nvSpPr>
        <p:spPr>
          <a:xfrm>
            <a:off x="3416643" y="1388075"/>
            <a:ext cx="339192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a:latin typeface="Times New Roman"/>
              </a:rPr>
              <a:t>Dataset </a:t>
            </a:r>
          </a:p>
        </p:txBody>
      </p:sp>
    </p:spTree>
    <p:extLst>
      <p:ext uri="{BB962C8B-B14F-4D97-AF65-F5344CB8AC3E}">
        <p14:creationId xmlns:p14="http://schemas.microsoft.com/office/powerpoint/2010/main" val="7324608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2">
          <a:extLst>
            <a:ext uri="{FF2B5EF4-FFF2-40B4-BE49-F238E27FC236}">
              <a16:creationId xmlns:a16="http://schemas.microsoft.com/office/drawing/2014/main" id="{0874B976-84AA-F8DD-A3B5-5644ABE6D27B}"/>
            </a:ext>
          </a:extLst>
        </p:cNvPr>
        <p:cNvGrpSpPr/>
        <p:nvPr/>
      </p:nvGrpSpPr>
      <p:grpSpPr>
        <a:xfrm>
          <a:off x="0" y="0"/>
          <a:ext cx="0" cy="0"/>
          <a:chOff x="0" y="0"/>
          <a:chExt cx="0" cy="0"/>
        </a:xfrm>
      </p:grpSpPr>
      <p:sp>
        <p:nvSpPr>
          <p:cNvPr id="204" name="Google Shape;204;g22f13355470_0_53">
            <a:extLst>
              <a:ext uri="{FF2B5EF4-FFF2-40B4-BE49-F238E27FC236}">
                <a16:creationId xmlns:a16="http://schemas.microsoft.com/office/drawing/2014/main" id="{FE9B1566-641B-C545-F780-42011BFCA380}"/>
              </a:ext>
            </a:extLst>
          </p:cNvPr>
          <p:cNvSpPr txBox="1">
            <a:spLocks noGrp="1"/>
          </p:cNvSpPr>
          <p:nvPr>
            <p:ph type="sldNum" idx="12"/>
          </p:nvPr>
        </p:nvSpPr>
        <p:spPr>
          <a:xfrm>
            <a:off x="6553200" y="6373546"/>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050"/>
              <a:buFont typeface="Arial"/>
              <a:buNone/>
            </a:pPr>
            <a:fld id="{00000000-1234-1234-1234-123412341234}" type="slidenum">
              <a:rPr lang="en-IN"/>
              <a:t>9</a:t>
            </a:fld>
            <a:endParaRPr/>
          </a:p>
        </p:txBody>
      </p:sp>
      <p:pic>
        <p:nvPicPr>
          <p:cNvPr id="2" name="Picture 1" descr="A bar graph with numbers and a number of classes&#10;&#10;AI-generated content may be incorrect.">
            <a:extLst>
              <a:ext uri="{FF2B5EF4-FFF2-40B4-BE49-F238E27FC236}">
                <a16:creationId xmlns:a16="http://schemas.microsoft.com/office/drawing/2014/main" id="{B76E8924-3B79-8586-2609-5CFE083E9223}"/>
              </a:ext>
            </a:extLst>
          </p:cNvPr>
          <p:cNvPicPr>
            <a:picLocks noChangeAspect="1"/>
          </p:cNvPicPr>
          <p:nvPr/>
        </p:nvPicPr>
        <p:blipFill>
          <a:blip r:embed="rId3"/>
          <a:srcRect l="-1351" t="1689" r="-3994" b="2295"/>
          <a:stretch>
            <a:fillRect/>
          </a:stretch>
        </p:blipFill>
        <p:spPr>
          <a:xfrm>
            <a:off x="566351" y="1459441"/>
            <a:ext cx="8026070" cy="5272531"/>
          </a:xfrm>
          <a:prstGeom prst="rect">
            <a:avLst/>
          </a:prstGeom>
        </p:spPr>
      </p:pic>
    </p:spTree>
    <p:extLst>
      <p:ext uri="{BB962C8B-B14F-4D97-AF65-F5344CB8AC3E}">
        <p14:creationId xmlns:p14="http://schemas.microsoft.com/office/powerpoint/2010/main" val="19045726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2">
          <a:extLst>
            <a:ext uri="{FF2B5EF4-FFF2-40B4-BE49-F238E27FC236}">
              <a16:creationId xmlns:a16="http://schemas.microsoft.com/office/drawing/2014/main" id="{43110B90-B14D-4E2D-D431-8949B913554F}"/>
            </a:ext>
          </a:extLst>
        </p:cNvPr>
        <p:cNvGrpSpPr/>
        <p:nvPr/>
      </p:nvGrpSpPr>
      <p:grpSpPr>
        <a:xfrm>
          <a:off x="0" y="0"/>
          <a:ext cx="0" cy="0"/>
          <a:chOff x="0" y="0"/>
          <a:chExt cx="0" cy="0"/>
        </a:xfrm>
      </p:grpSpPr>
      <p:sp>
        <p:nvSpPr>
          <p:cNvPr id="204" name="Google Shape;204;g22f13355470_0_53">
            <a:extLst>
              <a:ext uri="{FF2B5EF4-FFF2-40B4-BE49-F238E27FC236}">
                <a16:creationId xmlns:a16="http://schemas.microsoft.com/office/drawing/2014/main" id="{E3F66149-8C1F-944D-6449-F234E90C2A66}"/>
              </a:ext>
            </a:extLst>
          </p:cNvPr>
          <p:cNvSpPr txBox="1">
            <a:spLocks noGrp="1"/>
          </p:cNvSpPr>
          <p:nvPr>
            <p:ph type="sldNum" idx="12"/>
          </p:nvPr>
        </p:nvSpPr>
        <p:spPr>
          <a:xfrm>
            <a:off x="6553200" y="6373546"/>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050"/>
              <a:buFont typeface="Arial"/>
              <a:buNone/>
            </a:pPr>
            <a:fld id="{00000000-1234-1234-1234-123412341234}" type="slidenum">
              <a:rPr lang="en-IN"/>
              <a:t>10</a:t>
            </a:fld>
            <a:endParaRPr/>
          </a:p>
        </p:txBody>
      </p:sp>
      <p:sp>
        <p:nvSpPr>
          <p:cNvPr id="4" name="Title 3">
            <a:extLst>
              <a:ext uri="{FF2B5EF4-FFF2-40B4-BE49-F238E27FC236}">
                <a16:creationId xmlns:a16="http://schemas.microsoft.com/office/drawing/2014/main" id="{59B8DFD0-1A27-BA16-5406-7D5C17CD99E9}"/>
              </a:ext>
            </a:extLst>
          </p:cNvPr>
          <p:cNvSpPr>
            <a:spLocks noGrp="1"/>
          </p:cNvSpPr>
          <p:nvPr>
            <p:ph type="title"/>
          </p:nvPr>
        </p:nvSpPr>
        <p:spPr>
          <a:xfrm>
            <a:off x="271848" y="2397211"/>
            <a:ext cx="8590005" cy="3272480"/>
          </a:xfrm>
        </p:spPr>
        <p:txBody>
          <a:bodyPr>
            <a:normAutofit/>
          </a:bodyPr>
          <a:lstStyle/>
          <a:p>
            <a:endParaRPr lang="en-US" sz="2000"/>
          </a:p>
          <a:p>
            <a:pPr marL="285750" indent="-285750" algn="l">
              <a:buFont typeface="Arial"/>
              <a:buChar char="•"/>
            </a:pPr>
            <a:r>
              <a:rPr lang="en-US" sz="1600">
                <a:latin typeface="Arial"/>
              </a:rPr>
              <a:t>Class Distribution:</a:t>
            </a:r>
            <a:r>
              <a:rPr lang="en-US" sz="1600" b="0">
                <a:latin typeface="Arial"/>
              </a:rPr>
              <a:t> NV &gt;&gt; MEL, AKIEC, VASC (imbalance problem)</a:t>
            </a:r>
            <a:endParaRPr lang="en-US" sz="1600">
              <a:latin typeface="Arial"/>
            </a:endParaRPr>
          </a:p>
          <a:p>
            <a:pPr marL="285750" indent="-285750" algn="l">
              <a:buFont typeface="Arial"/>
              <a:buChar char="•"/>
            </a:pPr>
            <a:r>
              <a:rPr lang="en-US" sz="1600">
                <a:latin typeface="Arial"/>
              </a:rPr>
              <a:t>Age Distribution:</a:t>
            </a:r>
            <a:r>
              <a:rPr lang="en-US" sz="1600" b="0">
                <a:latin typeface="Arial"/>
              </a:rPr>
              <a:t> Most patients 20–65 years</a:t>
            </a:r>
            <a:endParaRPr lang="en-US" sz="1600">
              <a:latin typeface="Arial"/>
            </a:endParaRPr>
          </a:p>
          <a:p>
            <a:pPr marL="285750" indent="-285750" algn="l">
              <a:buFont typeface="Arial"/>
              <a:buChar char="•"/>
            </a:pPr>
            <a:r>
              <a:rPr lang="en-US" sz="1600">
                <a:latin typeface="Arial"/>
              </a:rPr>
              <a:t>Gender Split:</a:t>
            </a:r>
            <a:r>
              <a:rPr lang="en-US" sz="1600" b="0">
                <a:latin typeface="Arial"/>
              </a:rPr>
              <a:t> ~60% female, ~40% male (approx.)</a:t>
            </a:r>
            <a:endParaRPr lang="en-US" sz="1600">
              <a:latin typeface="Arial"/>
            </a:endParaRPr>
          </a:p>
          <a:p>
            <a:pPr marL="285750" indent="-285750" algn="l">
              <a:buFont typeface="Arial"/>
              <a:buChar char="•"/>
            </a:pPr>
            <a:r>
              <a:rPr lang="en-US" sz="1600">
                <a:latin typeface="Arial"/>
              </a:rPr>
              <a:t>Lesion Localization:</a:t>
            </a:r>
            <a:r>
              <a:rPr lang="en-US" sz="1600" b="0">
                <a:latin typeface="Arial"/>
              </a:rPr>
              <a:t> Most lesions appear on trunk, lower limbs</a:t>
            </a:r>
            <a:endParaRPr lang="en-US" sz="1600">
              <a:latin typeface="Arial"/>
            </a:endParaRPr>
          </a:p>
          <a:p>
            <a:pPr marL="285750" indent="-285750" algn="l">
              <a:buFont typeface="Arial"/>
              <a:buChar char="•"/>
            </a:pPr>
            <a:r>
              <a:rPr lang="en-US" sz="1600">
                <a:latin typeface="Arial"/>
              </a:rPr>
              <a:t>Key Insight:</a:t>
            </a:r>
            <a:r>
              <a:rPr lang="en-US" sz="1600" b="0">
                <a:latin typeface="Arial"/>
              </a:rPr>
              <a:t> Melanoma median age higher in males vs females</a:t>
            </a:r>
            <a:endParaRPr lang="en-US" sz="1600"/>
          </a:p>
          <a:p>
            <a:pPr algn="l"/>
            <a:r>
              <a:rPr lang="en-US" sz="2000" b="0"/>
              <a:t> </a:t>
            </a:r>
            <a:endParaRPr lang="en-US" sz="2000"/>
          </a:p>
          <a:p>
            <a:endParaRPr lang="en-US"/>
          </a:p>
        </p:txBody>
      </p:sp>
      <p:sp>
        <p:nvSpPr>
          <p:cNvPr id="2" name="TextBox 1">
            <a:extLst>
              <a:ext uri="{FF2B5EF4-FFF2-40B4-BE49-F238E27FC236}">
                <a16:creationId xmlns:a16="http://schemas.microsoft.com/office/drawing/2014/main" id="{7E94A5B1-9468-475B-4EC0-CD4544ED04D0}"/>
              </a:ext>
            </a:extLst>
          </p:cNvPr>
          <p:cNvSpPr txBox="1"/>
          <p:nvPr/>
        </p:nvSpPr>
        <p:spPr>
          <a:xfrm>
            <a:off x="1017374" y="1614616"/>
            <a:ext cx="786095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a:latin typeface="Times New Roman"/>
              </a:rPr>
              <a:t>Exploratory Data Analysis (EDA)</a:t>
            </a:r>
            <a:endParaRPr lang="en-US" sz="3600">
              <a:latin typeface="Times New Roman"/>
            </a:endParaRPr>
          </a:p>
        </p:txBody>
      </p:sp>
    </p:spTree>
    <p:extLst>
      <p:ext uri="{BB962C8B-B14F-4D97-AF65-F5344CB8AC3E}">
        <p14:creationId xmlns:p14="http://schemas.microsoft.com/office/powerpoint/2010/main" val="9284910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2">
          <a:extLst>
            <a:ext uri="{FF2B5EF4-FFF2-40B4-BE49-F238E27FC236}">
              <a16:creationId xmlns:a16="http://schemas.microsoft.com/office/drawing/2014/main" id="{B326A18F-9236-4DC5-F10D-B83FF72BA694}"/>
            </a:ext>
          </a:extLst>
        </p:cNvPr>
        <p:cNvGrpSpPr/>
        <p:nvPr/>
      </p:nvGrpSpPr>
      <p:grpSpPr>
        <a:xfrm>
          <a:off x="0" y="0"/>
          <a:ext cx="0" cy="0"/>
          <a:chOff x="0" y="0"/>
          <a:chExt cx="0" cy="0"/>
        </a:xfrm>
      </p:grpSpPr>
      <p:sp>
        <p:nvSpPr>
          <p:cNvPr id="204" name="Google Shape;204;g22f13355470_0_53">
            <a:extLst>
              <a:ext uri="{FF2B5EF4-FFF2-40B4-BE49-F238E27FC236}">
                <a16:creationId xmlns:a16="http://schemas.microsoft.com/office/drawing/2014/main" id="{3016412E-C978-9E98-4282-5262EA3D82A7}"/>
              </a:ext>
            </a:extLst>
          </p:cNvPr>
          <p:cNvSpPr txBox="1">
            <a:spLocks noGrp="1"/>
          </p:cNvSpPr>
          <p:nvPr>
            <p:ph type="sldNum" idx="12"/>
          </p:nvPr>
        </p:nvSpPr>
        <p:spPr>
          <a:xfrm>
            <a:off x="6553200" y="6373546"/>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050"/>
              <a:buFont typeface="Arial"/>
              <a:buNone/>
            </a:pPr>
            <a:fld id="{00000000-1234-1234-1234-123412341234}" type="slidenum">
              <a:rPr lang="en-IN"/>
              <a:t>11</a:t>
            </a:fld>
            <a:endParaRPr/>
          </a:p>
        </p:txBody>
      </p:sp>
      <p:sp>
        <p:nvSpPr>
          <p:cNvPr id="4" name="Title 3">
            <a:extLst>
              <a:ext uri="{FF2B5EF4-FFF2-40B4-BE49-F238E27FC236}">
                <a16:creationId xmlns:a16="http://schemas.microsoft.com/office/drawing/2014/main" id="{C7BBB406-2D70-B853-D37D-5BFCBB7BD754}"/>
              </a:ext>
            </a:extLst>
          </p:cNvPr>
          <p:cNvSpPr>
            <a:spLocks noGrp="1"/>
          </p:cNvSpPr>
          <p:nvPr>
            <p:ph type="title"/>
          </p:nvPr>
        </p:nvSpPr>
        <p:spPr>
          <a:xfrm>
            <a:off x="343931" y="1357184"/>
            <a:ext cx="8672383" cy="5373129"/>
          </a:xfrm>
        </p:spPr>
        <p:txBody>
          <a:bodyPr spcFirstLastPara="1" wrap="square" lIns="91425" tIns="45700" rIns="91425" bIns="45700" anchor="ctr" anchorCtr="0">
            <a:noAutofit/>
          </a:bodyPr>
          <a:lstStyle/>
          <a:p>
            <a:pPr marL="285750" indent="-285750" algn="just">
              <a:buFont typeface="Arial"/>
              <a:buChar char="•"/>
            </a:pPr>
            <a:endParaRPr lang="en-US" sz="1600"/>
          </a:p>
          <a:p>
            <a:pPr marL="285750" indent="-285750" algn="just">
              <a:buFont typeface="Arial"/>
              <a:buChar char="•"/>
            </a:pPr>
            <a:r>
              <a:rPr lang="en-US" sz="1600" dirty="0">
                <a:latin typeface="Arial"/>
              </a:rPr>
              <a:t>   Handling Missing Data:</a:t>
            </a:r>
            <a:r>
              <a:rPr lang="en-US" sz="1600" b="0" dirty="0">
                <a:latin typeface="Arial"/>
              </a:rPr>
              <a:t> Filled missing ages with mean value.</a:t>
            </a:r>
          </a:p>
          <a:p>
            <a:pPr marL="285750" indent="-285750" algn="just">
              <a:buFont typeface="Arial"/>
              <a:buChar char="•"/>
            </a:pPr>
            <a:r>
              <a:rPr lang="en-US" sz="1600" dirty="0">
                <a:latin typeface="Arial"/>
              </a:rPr>
              <a:t>   Image Preprocessing:</a:t>
            </a:r>
          </a:p>
          <a:p>
            <a:pPr lvl="1" algn="just"/>
            <a:r>
              <a:rPr lang="en-US" sz="1600" dirty="0"/>
              <a:t>        Resized to 224×224×3 Normalized pixel values (0–1 range) Checked for duplicates.</a:t>
            </a:r>
          </a:p>
          <a:p>
            <a:pPr marL="285750" indent="-285750" algn="just">
              <a:buFont typeface="Arial"/>
              <a:buChar char="•"/>
            </a:pPr>
            <a:r>
              <a:rPr lang="en-US" sz="1600" dirty="0">
                <a:latin typeface="Arial"/>
              </a:rPr>
              <a:t>   Augmentation:</a:t>
            </a:r>
          </a:p>
          <a:p>
            <a:pPr lvl="1" algn="just"/>
            <a:r>
              <a:rPr lang="en-US" sz="1600" dirty="0"/>
              <a:t>        Rotation (±20°).</a:t>
            </a:r>
          </a:p>
          <a:p>
            <a:pPr lvl="1" algn="just"/>
            <a:r>
              <a:rPr lang="en-US" sz="1600" dirty="0"/>
              <a:t>        Horizontal &amp; vertical flip.</a:t>
            </a:r>
          </a:p>
          <a:p>
            <a:pPr lvl="1" algn="just"/>
            <a:r>
              <a:rPr lang="en-US" sz="1600" dirty="0"/>
              <a:t>        Zoom in/out (±10%).</a:t>
            </a:r>
          </a:p>
          <a:p>
            <a:pPr lvl="1" algn="just"/>
            <a:r>
              <a:rPr lang="en-US" sz="1600" dirty="0"/>
              <a:t>        Shear transformation .</a:t>
            </a:r>
          </a:p>
          <a:p>
            <a:pPr marL="285750" indent="-285750" algn="just">
              <a:buFont typeface="Arial"/>
              <a:buChar char="•"/>
            </a:pPr>
            <a:r>
              <a:rPr lang="en-US" sz="1600" dirty="0">
                <a:latin typeface="Arial"/>
              </a:rPr>
              <a:t>  Balancing Classes:</a:t>
            </a:r>
          </a:p>
          <a:p>
            <a:pPr lvl="1" algn="just"/>
            <a:r>
              <a:rPr lang="en-US" sz="1600" dirty="0"/>
              <a:t>        Target = 1500 images/class.</a:t>
            </a:r>
          </a:p>
          <a:p>
            <a:pPr lvl="1" algn="just"/>
            <a:r>
              <a:rPr lang="en-US" sz="1600" dirty="0"/>
              <a:t>        Used augmentation for minority classes.</a:t>
            </a:r>
            <a:endParaRPr lang="en-US" dirty="0"/>
          </a:p>
          <a:p>
            <a:pPr lvl="1" algn="just"/>
            <a:r>
              <a:rPr lang="en-US" sz="1600" dirty="0"/>
              <a:t>        Down-sampled majority classes.</a:t>
            </a:r>
            <a:endParaRPr lang="en-US" dirty="0"/>
          </a:p>
          <a:p>
            <a:endParaRPr lang="en-US"/>
          </a:p>
        </p:txBody>
      </p:sp>
      <p:sp>
        <p:nvSpPr>
          <p:cNvPr id="2" name="TextBox 1">
            <a:extLst>
              <a:ext uri="{FF2B5EF4-FFF2-40B4-BE49-F238E27FC236}">
                <a16:creationId xmlns:a16="http://schemas.microsoft.com/office/drawing/2014/main" id="{BC3E8EFA-C794-7C49-CE96-19CBFD29252A}"/>
              </a:ext>
            </a:extLst>
          </p:cNvPr>
          <p:cNvSpPr txBox="1"/>
          <p:nvPr/>
        </p:nvSpPr>
        <p:spPr>
          <a:xfrm>
            <a:off x="2489886" y="1357183"/>
            <a:ext cx="457611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a:latin typeface="Times New Roman"/>
              </a:rPr>
              <a:t>Data Preprocessing</a:t>
            </a:r>
            <a:endParaRPr lang="en-US" sz="3600">
              <a:latin typeface="Times New Roman"/>
            </a:endParaRPr>
          </a:p>
        </p:txBody>
      </p:sp>
    </p:spTree>
    <p:extLst>
      <p:ext uri="{BB962C8B-B14F-4D97-AF65-F5344CB8AC3E}">
        <p14:creationId xmlns:p14="http://schemas.microsoft.com/office/powerpoint/2010/main" val="28533916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2">
          <a:extLst>
            <a:ext uri="{FF2B5EF4-FFF2-40B4-BE49-F238E27FC236}">
              <a16:creationId xmlns:a16="http://schemas.microsoft.com/office/drawing/2014/main" id="{71BD20EA-A0A9-379C-FB98-8A0C99BE52B6}"/>
            </a:ext>
          </a:extLst>
        </p:cNvPr>
        <p:cNvGrpSpPr/>
        <p:nvPr/>
      </p:nvGrpSpPr>
      <p:grpSpPr>
        <a:xfrm>
          <a:off x="0" y="0"/>
          <a:ext cx="0" cy="0"/>
          <a:chOff x="0" y="0"/>
          <a:chExt cx="0" cy="0"/>
        </a:xfrm>
      </p:grpSpPr>
      <p:sp>
        <p:nvSpPr>
          <p:cNvPr id="204" name="Google Shape;204;g22f13355470_0_53">
            <a:extLst>
              <a:ext uri="{FF2B5EF4-FFF2-40B4-BE49-F238E27FC236}">
                <a16:creationId xmlns:a16="http://schemas.microsoft.com/office/drawing/2014/main" id="{89A60ACF-98D3-B87C-6059-A501A28CFFEF}"/>
              </a:ext>
            </a:extLst>
          </p:cNvPr>
          <p:cNvSpPr txBox="1">
            <a:spLocks noGrp="1"/>
          </p:cNvSpPr>
          <p:nvPr>
            <p:ph type="sldNum" idx="12"/>
          </p:nvPr>
        </p:nvSpPr>
        <p:spPr>
          <a:xfrm>
            <a:off x="6553200" y="6373546"/>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050"/>
              <a:buFont typeface="Arial"/>
              <a:buNone/>
            </a:pPr>
            <a:fld id="{00000000-1234-1234-1234-123412341234}" type="slidenum">
              <a:rPr lang="en-IN"/>
              <a:t>12</a:t>
            </a:fld>
            <a:endParaRPr/>
          </a:p>
        </p:txBody>
      </p:sp>
      <p:sp>
        <p:nvSpPr>
          <p:cNvPr id="4" name="Title 3">
            <a:extLst>
              <a:ext uri="{FF2B5EF4-FFF2-40B4-BE49-F238E27FC236}">
                <a16:creationId xmlns:a16="http://schemas.microsoft.com/office/drawing/2014/main" id="{11972C32-02D2-857F-3610-261D4B1EA8C9}"/>
              </a:ext>
            </a:extLst>
          </p:cNvPr>
          <p:cNvSpPr>
            <a:spLocks noGrp="1"/>
          </p:cNvSpPr>
          <p:nvPr>
            <p:ph type="title"/>
          </p:nvPr>
        </p:nvSpPr>
        <p:spPr/>
        <p:txBody>
          <a:bodyPr/>
          <a:lstStyle/>
          <a:p>
            <a:endParaRPr lang="en-US"/>
          </a:p>
        </p:txBody>
      </p:sp>
      <p:pic>
        <p:nvPicPr>
          <p:cNvPr id="2" name="Picture 1">
            <a:extLst>
              <a:ext uri="{FF2B5EF4-FFF2-40B4-BE49-F238E27FC236}">
                <a16:creationId xmlns:a16="http://schemas.microsoft.com/office/drawing/2014/main" id="{F0E68F51-E39D-00DF-2FDC-A044AE02D961}"/>
              </a:ext>
            </a:extLst>
          </p:cNvPr>
          <p:cNvPicPr>
            <a:picLocks noChangeAspect="1"/>
          </p:cNvPicPr>
          <p:nvPr/>
        </p:nvPicPr>
        <p:blipFill>
          <a:blip r:embed="rId3"/>
          <a:stretch>
            <a:fillRect/>
          </a:stretch>
        </p:blipFill>
        <p:spPr>
          <a:xfrm>
            <a:off x="576649" y="1422099"/>
            <a:ext cx="8001001" cy="5125909"/>
          </a:xfrm>
          <a:prstGeom prst="rect">
            <a:avLst/>
          </a:prstGeom>
        </p:spPr>
      </p:pic>
    </p:spTree>
    <p:extLst>
      <p:ext uri="{BB962C8B-B14F-4D97-AF65-F5344CB8AC3E}">
        <p14:creationId xmlns:p14="http://schemas.microsoft.com/office/powerpoint/2010/main" val="42427329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2">
          <a:extLst>
            <a:ext uri="{FF2B5EF4-FFF2-40B4-BE49-F238E27FC236}">
              <a16:creationId xmlns:a16="http://schemas.microsoft.com/office/drawing/2014/main" id="{8F110170-1B23-342E-42D7-3FFABE0A93B5}"/>
            </a:ext>
          </a:extLst>
        </p:cNvPr>
        <p:cNvGrpSpPr/>
        <p:nvPr/>
      </p:nvGrpSpPr>
      <p:grpSpPr>
        <a:xfrm>
          <a:off x="0" y="0"/>
          <a:ext cx="0" cy="0"/>
          <a:chOff x="0" y="0"/>
          <a:chExt cx="0" cy="0"/>
        </a:xfrm>
      </p:grpSpPr>
      <p:sp>
        <p:nvSpPr>
          <p:cNvPr id="204" name="Google Shape;204;g22f13355470_0_53">
            <a:extLst>
              <a:ext uri="{FF2B5EF4-FFF2-40B4-BE49-F238E27FC236}">
                <a16:creationId xmlns:a16="http://schemas.microsoft.com/office/drawing/2014/main" id="{D4930694-6864-7119-743D-B4FD2E74444F}"/>
              </a:ext>
            </a:extLst>
          </p:cNvPr>
          <p:cNvSpPr txBox="1">
            <a:spLocks noGrp="1"/>
          </p:cNvSpPr>
          <p:nvPr>
            <p:ph type="sldNum" idx="12"/>
          </p:nvPr>
        </p:nvSpPr>
        <p:spPr>
          <a:xfrm>
            <a:off x="6553200" y="6373546"/>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050"/>
              <a:buFont typeface="Arial"/>
              <a:buNone/>
            </a:pPr>
            <a:fld id="{00000000-1234-1234-1234-123412341234}" type="slidenum">
              <a:rPr lang="en-IN"/>
              <a:t>13</a:t>
            </a:fld>
            <a:endParaRPr/>
          </a:p>
        </p:txBody>
      </p:sp>
      <p:sp>
        <p:nvSpPr>
          <p:cNvPr id="4" name="Title 3">
            <a:extLst>
              <a:ext uri="{FF2B5EF4-FFF2-40B4-BE49-F238E27FC236}">
                <a16:creationId xmlns:a16="http://schemas.microsoft.com/office/drawing/2014/main" id="{037BDC00-7C5C-B5A1-20B9-C0A5E3E17C41}"/>
              </a:ext>
            </a:extLst>
          </p:cNvPr>
          <p:cNvSpPr>
            <a:spLocks noGrp="1"/>
          </p:cNvSpPr>
          <p:nvPr>
            <p:ph type="title"/>
          </p:nvPr>
        </p:nvSpPr>
        <p:spPr>
          <a:xfrm>
            <a:off x="220362" y="3900617"/>
            <a:ext cx="8229600" cy="914400"/>
          </a:xfrm>
        </p:spPr>
        <p:txBody>
          <a:bodyPr>
            <a:normAutofit/>
          </a:bodyPr>
          <a:lstStyle/>
          <a:p>
            <a:pPr algn="l"/>
            <a:endParaRPr lang="en-US" sz="2800" b="0"/>
          </a:p>
          <a:p>
            <a:endParaRPr lang="en-US"/>
          </a:p>
        </p:txBody>
      </p:sp>
      <p:pic>
        <p:nvPicPr>
          <p:cNvPr id="2" name="Picture 1" descr="A graph with blue lines and numbers">
            <a:extLst>
              <a:ext uri="{FF2B5EF4-FFF2-40B4-BE49-F238E27FC236}">
                <a16:creationId xmlns:a16="http://schemas.microsoft.com/office/drawing/2014/main" id="{838757DB-3746-5F60-CB08-65B0CD998A62}"/>
              </a:ext>
            </a:extLst>
          </p:cNvPr>
          <p:cNvPicPr>
            <a:picLocks noChangeAspect="1"/>
          </p:cNvPicPr>
          <p:nvPr/>
        </p:nvPicPr>
        <p:blipFill>
          <a:blip r:embed="rId3"/>
          <a:stretch>
            <a:fillRect/>
          </a:stretch>
        </p:blipFill>
        <p:spPr>
          <a:xfrm>
            <a:off x="10297" y="1857579"/>
            <a:ext cx="9133703" cy="4049005"/>
          </a:xfrm>
          <a:prstGeom prst="rect">
            <a:avLst/>
          </a:prstGeom>
        </p:spPr>
      </p:pic>
    </p:spTree>
    <p:extLst>
      <p:ext uri="{BB962C8B-B14F-4D97-AF65-F5344CB8AC3E}">
        <p14:creationId xmlns:p14="http://schemas.microsoft.com/office/powerpoint/2010/main" val="38468539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2">
          <a:extLst>
            <a:ext uri="{FF2B5EF4-FFF2-40B4-BE49-F238E27FC236}">
              <a16:creationId xmlns:a16="http://schemas.microsoft.com/office/drawing/2014/main" id="{A7E864C7-33A0-C86B-2010-370341FE6CDD}"/>
            </a:ext>
          </a:extLst>
        </p:cNvPr>
        <p:cNvGrpSpPr/>
        <p:nvPr/>
      </p:nvGrpSpPr>
      <p:grpSpPr>
        <a:xfrm>
          <a:off x="0" y="0"/>
          <a:ext cx="0" cy="0"/>
          <a:chOff x="0" y="0"/>
          <a:chExt cx="0" cy="0"/>
        </a:xfrm>
      </p:grpSpPr>
      <p:sp>
        <p:nvSpPr>
          <p:cNvPr id="204" name="Google Shape;204;g22f13355470_0_53">
            <a:extLst>
              <a:ext uri="{FF2B5EF4-FFF2-40B4-BE49-F238E27FC236}">
                <a16:creationId xmlns:a16="http://schemas.microsoft.com/office/drawing/2014/main" id="{DD8D0245-6449-824C-2429-B3A03E1218F9}"/>
              </a:ext>
            </a:extLst>
          </p:cNvPr>
          <p:cNvSpPr txBox="1">
            <a:spLocks noGrp="1"/>
          </p:cNvSpPr>
          <p:nvPr>
            <p:ph type="sldNum" idx="12"/>
          </p:nvPr>
        </p:nvSpPr>
        <p:spPr>
          <a:xfrm>
            <a:off x="6553200" y="6373546"/>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050"/>
              <a:buFont typeface="Arial"/>
              <a:buNone/>
            </a:pPr>
            <a:fld id="{00000000-1234-1234-1234-123412341234}" type="slidenum">
              <a:rPr lang="en-IN"/>
              <a:t>14</a:t>
            </a:fld>
            <a:endParaRPr/>
          </a:p>
        </p:txBody>
      </p:sp>
      <p:sp>
        <p:nvSpPr>
          <p:cNvPr id="4" name="Title 3">
            <a:extLst>
              <a:ext uri="{FF2B5EF4-FFF2-40B4-BE49-F238E27FC236}">
                <a16:creationId xmlns:a16="http://schemas.microsoft.com/office/drawing/2014/main" id="{E9C643EE-339C-88B8-3432-8A2C2919CD00}"/>
              </a:ext>
            </a:extLst>
          </p:cNvPr>
          <p:cNvSpPr>
            <a:spLocks noGrp="1"/>
          </p:cNvSpPr>
          <p:nvPr>
            <p:ph type="title"/>
          </p:nvPr>
        </p:nvSpPr>
        <p:spPr>
          <a:xfrm>
            <a:off x="220362" y="3900617"/>
            <a:ext cx="8229600" cy="914400"/>
          </a:xfrm>
        </p:spPr>
        <p:txBody>
          <a:bodyPr>
            <a:normAutofit/>
          </a:bodyPr>
          <a:lstStyle/>
          <a:p>
            <a:pPr algn="l"/>
            <a:endParaRPr lang="en-US" sz="2800" b="0"/>
          </a:p>
          <a:p>
            <a:endParaRPr lang="en-US"/>
          </a:p>
        </p:txBody>
      </p:sp>
      <p:sp>
        <p:nvSpPr>
          <p:cNvPr id="3" name="TextBox 2">
            <a:extLst>
              <a:ext uri="{FF2B5EF4-FFF2-40B4-BE49-F238E27FC236}">
                <a16:creationId xmlns:a16="http://schemas.microsoft.com/office/drawing/2014/main" id="{F55D9963-881B-48D2-58C9-FC1DB26B1711}"/>
              </a:ext>
            </a:extLst>
          </p:cNvPr>
          <p:cNvSpPr txBox="1"/>
          <p:nvPr/>
        </p:nvSpPr>
        <p:spPr>
          <a:xfrm>
            <a:off x="895866" y="1503405"/>
            <a:ext cx="7197807" cy="437042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dirty="0">
                <a:latin typeface="Times New Roman"/>
              </a:rPr>
              <a:t>  Methodology and Implementation</a:t>
            </a:r>
            <a:r>
              <a:rPr lang="en-US" sz="3600" dirty="0">
                <a:latin typeface="Times New Roman"/>
              </a:rPr>
              <a:t> </a:t>
            </a:r>
          </a:p>
          <a:p>
            <a:pPr marL="571500" indent="-571500" algn="just">
              <a:buChar char="•"/>
            </a:pPr>
            <a:endParaRPr lang="en-US" sz="3600" b="1" dirty="0">
              <a:latin typeface="Times New Roman"/>
            </a:endParaRPr>
          </a:p>
          <a:p>
            <a:pPr algn="just"/>
            <a:r>
              <a:rPr lang="en-US" sz="1600" b="1" dirty="0"/>
              <a:t>Dataset Preparation: </a:t>
            </a:r>
          </a:p>
          <a:p>
            <a:pPr marL="285750" indent="-285750" algn="just">
              <a:buChar char="•"/>
            </a:pPr>
            <a:r>
              <a:rPr lang="en-US" sz="1600" dirty="0"/>
              <a:t>Used the HAM10000 dataset, which contains 10,015 </a:t>
            </a:r>
            <a:r>
              <a:rPr lang="en-US" sz="1600" dirty="0" err="1"/>
              <a:t>dermoscopic</a:t>
            </a:r>
            <a:r>
              <a:rPr lang="en-US" sz="1600" dirty="0"/>
              <a:t> images belonging to seven skin lesion classes. </a:t>
            </a:r>
          </a:p>
          <a:p>
            <a:pPr marL="285750" indent="-285750" algn="just">
              <a:buChar char="•"/>
            </a:pPr>
            <a:r>
              <a:rPr lang="en-US" sz="1600" dirty="0"/>
              <a:t> Split data into training (64%), validation (16%), and testing (20%) sets using stratified sampling to maintain class proportions.</a:t>
            </a:r>
          </a:p>
          <a:p>
            <a:pPr marL="285750" indent="-285750" algn="just">
              <a:buChar char="•"/>
            </a:pPr>
            <a:endParaRPr lang="en-US" sz="1600" dirty="0"/>
          </a:p>
          <a:p>
            <a:pPr algn="just"/>
            <a:r>
              <a:rPr lang="en-US" sz="1600" b="1" dirty="0"/>
              <a:t>Preprocessing:</a:t>
            </a:r>
          </a:p>
          <a:p>
            <a:pPr marL="285750" indent="-285750" algn="just">
              <a:buChar char="•"/>
            </a:pPr>
            <a:r>
              <a:rPr lang="en-US" sz="1600" dirty="0"/>
              <a:t>All images resized to 224 x 224 x 3. Normalized pixel values to for faster and more stable model training.</a:t>
            </a:r>
          </a:p>
          <a:p>
            <a:pPr marL="285750" indent="-285750" algn="just">
              <a:buChar char="•"/>
            </a:pPr>
            <a:r>
              <a:rPr lang="en-US" sz="1600" dirty="0"/>
              <a:t> Applied extensive augmentation—rotation, flipping, zoom, brightness adjustment—especially for underrepresented classes to address class imbalance. </a:t>
            </a:r>
          </a:p>
          <a:p>
            <a:endParaRPr lang="en-US" dirty="0"/>
          </a:p>
        </p:txBody>
      </p:sp>
    </p:spTree>
    <p:extLst>
      <p:ext uri="{BB962C8B-B14F-4D97-AF65-F5344CB8AC3E}">
        <p14:creationId xmlns:p14="http://schemas.microsoft.com/office/powerpoint/2010/main" val="41729362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2">
          <a:extLst>
            <a:ext uri="{FF2B5EF4-FFF2-40B4-BE49-F238E27FC236}">
              <a16:creationId xmlns:a16="http://schemas.microsoft.com/office/drawing/2014/main" id="{97F7E7EF-7A03-B212-E32F-318C9F880B68}"/>
            </a:ext>
          </a:extLst>
        </p:cNvPr>
        <p:cNvGrpSpPr/>
        <p:nvPr/>
      </p:nvGrpSpPr>
      <p:grpSpPr>
        <a:xfrm>
          <a:off x="0" y="0"/>
          <a:ext cx="0" cy="0"/>
          <a:chOff x="0" y="0"/>
          <a:chExt cx="0" cy="0"/>
        </a:xfrm>
      </p:grpSpPr>
      <p:sp>
        <p:nvSpPr>
          <p:cNvPr id="204" name="Google Shape;204;g22f13355470_0_53">
            <a:extLst>
              <a:ext uri="{FF2B5EF4-FFF2-40B4-BE49-F238E27FC236}">
                <a16:creationId xmlns:a16="http://schemas.microsoft.com/office/drawing/2014/main" id="{62F56CA1-5567-533E-5294-E744E3531349}"/>
              </a:ext>
            </a:extLst>
          </p:cNvPr>
          <p:cNvSpPr txBox="1">
            <a:spLocks noGrp="1"/>
          </p:cNvSpPr>
          <p:nvPr>
            <p:ph type="sldNum" idx="12"/>
          </p:nvPr>
        </p:nvSpPr>
        <p:spPr>
          <a:xfrm>
            <a:off x="6553200" y="6373546"/>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050"/>
              <a:buFont typeface="Arial"/>
              <a:buNone/>
            </a:pPr>
            <a:fld id="{00000000-1234-1234-1234-123412341234}" type="slidenum">
              <a:rPr lang="en-IN"/>
              <a:t>15</a:t>
            </a:fld>
            <a:endParaRPr/>
          </a:p>
        </p:txBody>
      </p:sp>
      <p:sp>
        <p:nvSpPr>
          <p:cNvPr id="4" name="Title 3">
            <a:extLst>
              <a:ext uri="{FF2B5EF4-FFF2-40B4-BE49-F238E27FC236}">
                <a16:creationId xmlns:a16="http://schemas.microsoft.com/office/drawing/2014/main" id="{4A65F7B3-30FA-8165-6920-78259D7B30D5}"/>
              </a:ext>
            </a:extLst>
          </p:cNvPr>
          <p:cNvSpPr>
            <a:spLocks noGrp="1"/>
          </p:cNvSpPr>
          <p:nvPr>
            <p:ph type="title"/>
          </p:nvPr>
        </p:nvSpPr>
        <p:spPr>
          <a:xfrm>
            <a:off x="220362" y="3900617"/>
            <a:ext cx="8229600" cy="914400"/>
          </a:xfrm>
        </p:spPr>
        <p:txBody>
          <a:bodyPr>
            <a:normAutofit/>
          </a:bodyPr>
          <a:lstStyle/>
          <a:p>
            <a:pPr algn="l"/>
            <a:endParaRPr lang="en-US" sz="2800" b="0"/>
          </a:p>
          <a:p>
            <a:endParaRPr lang="en-US"/>
          </a:p>
        </p:txBody>
      </p:sp>
      <p:sp>
        <p:nvSpPr>
          <p:cNvPr id="2" name="TextBox 1">
            <a:extLst>
              <a:ext uri="{FF2B5EF4-FFF2-40B4-BE49-F238E27FC236}">
                <a16:creationId xmlns:a16="http://schemas.microsoft.com/office/drawing/2014/main" id="{D689DC83-1A5B-C952-C0A3-969122616530}"/>
              </a:ext>
            </a:extLst>
          </p:cNvPr>
          <p:cNvSpPr txBox="1"/>
          <p:nvPr/>
        </p:nvSpPr>
        <p:spPr>
          <a:xfrm>
            <a:off x="216245" y="1472513"/>
            <a:ext cx="8361403" cy="52731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rtl="0"/>
            <a:r>
              <a:rPr lang="en-US" sz="1600" b="1" baseline="0" dirty="0">
                <a:latin typeface="Arial"/>
                <a:ea typeface="Segoe UI"/>
                <a:cs typeface="Segoe UI"/>
              </a:rPr>
              <a:t>Hybrid Model Architecture</a:t>
            </a:r>
            <a:r>
              <a:rPr lang="en-US" sz="1600" b="1" dirty="0">
                <a:ea typeface="Segoe UI"/>
                <a:cs typeface="Segoe UI"/>
              </a:rPr>
              <a:t>:</a:t>
            </a:r>
            <a:endParaRPr lang="en-US" b="1"/>
          </a:p>
          <a:p>
            <a:pPr marL="285750" indent="-285750" algn="just" rtl="0">
              <a:buChar char="•"/>
            </a:pPr>
            <a:r>
              <a:rPr lang="en-US" sz="1600" baseline="0" dirty="0">
                <a:latin typeface="Arial"/>
                <a:ea typeface="Segoe UI"/>
                <a:cs typeface="Segoe UI"/>
              </a:rPr>
              <a:t>Constructed a parallel architecture combining pre-trained ResNet-50 (</a:t>
            </a:r>
            <a:r>
              <a:rPr lang="en-US" sz="1600" baseline="0" dirty="0" err="1">
                <a:latin typeface="Arial"/>
                <a:ea typeface="Segoe UI"/>
                <a:cs typeface="Segoe UI"/>
              </a:rPr>
              <a:t>forlocal</a:t>
            </a:r>
            <a:r>
              <a:rPr lang="en-US" sz="1600" baseline="0" dirty="0">
                <a:latin typeface="Arial"/>
                <a:ea typeface="Segoe UI"/>
                <a:cs typeface="Segoe UI"/>
              </a:rPr>
              <a:t> spatial feature extraction) and Vision Transformer (</a:t>
            </a:r>
            <a:r>
              <a:rPr lang="en-US" sz="1600" baseline="0" dirty="0" err="1">
                <a:latin typeface="Arial"/>
                <a:ea typeface="Segoe UI"/>
                <a:cs typeface="Segoe UI"/>
              </a:rPr>
              <a:t>ViT</a:t>
            </a:r>
            <a:r>
              <a:rPr lang="en-US" sz="1600" baseline="0" dirty="0">
                <a:latin typeface="Arial"/>
                <a:ea typeface="Segoe UI"/>
                <a:cs typeface="Segoe UI"/>
              </a:rPr>
              <a:t>) branch (</a:t>
            </a:r>
            <a:r>
              <a:rPr lang="en-US" sz="1600" baseline="0" dirty="0" err="1">
                <a:latin typeface="Arial"/>
                <a:ea typeface="Segoe UI"/>
                <a:cs typeface="Segoe UI"/>
              </a:rPr>
              <a:t>forglobal</a:t>
            </a:r>
            <a:r>
              <a:rPr lang="en-US" sz="1600" baseline="0" dirty="0">
                <a:latin typeface="Arial"/>
                <a:ea typeface="Segoe UI"/>
                <a:cs typeface="Segoe UI"/>
              </a:rPr>
              <a:t> context modeling). </a:t>
            </a:r>
            <a:r>
              <a:rPr lang="en-US" sz="1600" dirty="0">
                <a:latin typeface="Arial"/>
                <a:ea typeface="Segoe UI"/>
                <a:cs typeface="Segoe UI"/>
              </a:rPr>
              <a:t>​</a:t>
            </a:r>
          </a:p>
          <a:p>
            <a:pPr marL="285750" indent="-285750" algn="just">
              <a:buChar char="•"/>
            </a:pPr>
            <a:r>
              <a:rPr lang="en-US" sz="1600" baseline="0" dirty="0">
                <a:latin typeface="Arial"/>
                <a:ea typeface="Segoe UI"/>
                <a:cs typeface="Segoe UI"/>
              </a:rPr>
              <a:t>Outputs from both branches concatenated and passed through </a:t>
            </a:r>
            <a:r>
              <a:rPr lang="en-US" sz="1600" baseline="0" dirty="0" err="1">
                <a:latin typeface="Arial"/>
                <a:ea typeface="Segoe UI"/>
                <a:cs typeface="Segoe UI"/>
              </a:rPr>
              <a:t>fullyconnected</a:t>
            </a:r>
            <a:r>
              <a:rPr lang="en-US" sz="1600" baseline="0" dirty="0">
                <a:latin typeface="Arial"/>
                <a:ea typeface="Segoe UI"/>
                <a:cs typeface="Segoe UI"/>
              </a:rPr>
              <a:t> layers and a </a:t>
            </a:r>
            <a:r>
              <a:rPr lang="en-US" sz="1600" baseline="0" dirty="0" err="1">
                <a:latin typeface="Arial"/>
                <a:ea typeface="Segoe UI"/>
                <a:cs typeface="Segoe UI"/>
              </a:rPr>
              <a:t>softmax</a:t>
            </a:r>
            <a:r>
              <a:rPr lang="en-US" sz="1600" baseline="0" dirty="0">
                <a:latin typeface="Arial"/>
                <a:ea typeface="Segoe UI"/>
                <a:cs typeface="Segoe UI"/>
              </a:rPr>
              <a:t> classifier for multiclass prediction</a:t>
            </a:r>
            <a:endParaRPr lang="en-US" sz="1600" dirty="0">
              <a:ea typeface="Segoe UI"/>
              <a:cs typeface="Segoe UI"/>
            </a:endParaRPr>
          </a:p>
          <a:p>
            <a:pPr marL="285750" indent="-285750" algn="just">
              <a:buChar char="•"/>
            </a:pPr>
            <a:endParaRPr lang="en-US" sz="1600" dirty="0">
              <a:ea typeface="Segoe UI"/>
              <a:cs typeface="Segoe UI"/>
            </a:endParaRPr>
          </a:p>
          <a:p>
            <a:pPr algn="just"/>
            <a:r>
              <a:rPr lang="en-US" sz="1600" b="1" baseline="0" dirty="0">
                <a:latin typeface="Arial"/>
                <a:ea typeface="Segoe UI"/>
                <a:cs typeface="Segoe UI"/>
              </a:rPr>
              <a:t>Training Details</a:t>
            </a:r>
            <a:r>
              <a:rPr lang="en-US" sz="1600" b="1" dirty="0">
                <a:ea typeface="Segoe UI"/>
                <a:cs typeface="Segoe UI"/>
              </a:rPr>
              <a:t>:</a:t>
            </a:r>
            <a:r>
              <a:rPr lang="en-US" sz="1600" b="1" dirty="0">
                <a:latin typeface="Arial"/>
                <a:ea typeface="Segoe UI"/>
                <a:cs typeface="Segoe UI"/>
              </a:rPr>
              <a:t>​</a:t>
            </a:r>
            <a:endParaRPr lang="en-US" sz="1600" b="1"/>
          </a:p>
          <a:p>
            <a:pPr marL="285750" indent="-285750" algn="just">
              <a:buChar char="•"/>
            </a:pPr>
            <a:r>
              <a:rPr lang="en-US" sz="1600" baseline="0" dirty="0">
                <a:latin typeface="Arial"/>
                <a:ea typeface="Segoe UI"/>
                <a:cs typeface="Segoe UI"/>
              </a:rPr>
              <a:t> Used Adam optimizer with a learning rate of 1</a:t>
            </a:r>
            <a:r>
              <a:rPr lang="en-US" sz="1600" dirty="0">
                <a:ea typeface="Segoe UI"/>
                <a:cs typeface="Segoe UI"/>
              </a:rPr>
              <a:t> x</a:t>
            </a:r>
            <a:r>
              <a:rPr lang="en-US" sz="1600" baseline="0" dirty="0">
                <a:latin typeface="Arial"/>
                <a:ea typeface="Segoe UI"/>
                <a:cs typeface="Segoe UI"/>
              </a:rPr>
              <a:t> </a:t>
            </a:r>
            <a:r>
              <a:rPr lang="en-US" sz="1600" dirty="0">
                <a:ea typeface="Segoe UI"/>
                <a:cs typeface="Segoe UI"/>
              </a:rPr>
              <a:t>10^-4,</a:t>
            </a:r>
            <a:r>
              <a:rPr lang="en-US" sz="1600" baseline="0" dirty="0">
                <a:latin typeface="Arial"/>
                <a:ea typeface="Segoe UI"/>
                <a:cs typeface="Segoe UI"/>
              </a:rPr>
              <a:t> </a:t>
            </a:r>
            <a:r>
              <a:rPr lang="en-US" sz="1600" baseline="0" err="1">
                <a:latin typeface="Arial"/>
                <a:ea typeface="Segoe UI"/>
                <a:cs typeface="Segoe UI"/>
              </a:rPr>
              <a:t>batchsize</a:t>
            </a:r>
            <a:r>
              <a:rPr lang="en-US" sz="1600" baseline="0" dirty="0">
                <a:latin typeface="Arial"/>
                <a:ea typeface="Segoe UI"/>
                <a:cs typeface="Segoe UI"/>
              </a:rPr>
              <a:t> of 32, and cosine annealing schedule. </a:t>
            </a:r>
            <a:r>
              <a:rPr lang="en-US" sz="1600" dirty="0">
                <a:latin typeface="Arial"/>
                <a:ea typeface="Segoe UI"/>
                <a:cs typeface="Segoe UI"/>
              </a:rPr>
              <a:t>​</a:t>
            </a:r>
          </a:p>
          <a:p>
            <a:pPr marL="285750" indent="-285750" algn="just" rtl="0">
              <a:buChar char="•"/>
            </a:pPr>
            <a:r>
              <a:rPr lang="en-US" sz="1600" baseline="0" dirty="0">
                <a:latin typeface="Arial"/>
                <a:ea typeface="Segoe UI"/>
                <a:cs typeface="Segoe UI"/>
              </a:rPr>
              <a:t>Training performed for 25 epochs with early stopping of 10 </a:t>
            </a:r>
            <a:r>
              <a:rPr lang="en-US" sz="1600" baseline="0" err="1">
                <a:latin typeface="Arial"/>
                <a:ea typeface="Segoe UI"/>
                <a:cs typeface="Segoe UI"/>
              </a:rPr>
              <a:t>epochspatience</a:t>
            </a:r>
            <a:r>
              <a:rPr lang="en-US" sz="1600" baseline="0" dirty="0">
                <a:latin typeface="Arial"/>
                <a:ea typeface="Segoe UI"/>
                <a:cs typeface="Segoe UI"/>
              </a:rPr>
              <a:t> to prevent overfitting.</a:t>
            </a:r>
            <a:r>
              <a:rPr lang="en-US" sz="1600" dirty="0">
                <a:latin typeface="Arial"/>
                <a:ea typeface="Segoe UI"/>
                <a:cs typeface="Segoe UI"/>
              </a:rPr>
              <a:t>​</a:t>
            </a:r>
          </a:p>
          <a:p>
            <a:pPr marL="285750" indent="-285750" algn="just" rtl="0">
              <a:buChar char="•"/>
            </a:pPr>
            <a:r>
              <a:rPr lang="en-US" sz="1600" baseline="0" dirty="0">
                <a:latin typeface="Arial"/>
                <a:ea typeface="Segoe UI"/>
                <a:cs typeface="Segoe UI"/>
              </a:rPr>
              <a:t>Loss function: Categorical cross-entropy. </a:t>
            </a:r>
            <a:r>
              <a:rPr lang="en-US" sz="1600" dirty="0">
                <a:latin typeface="Arial"/>
                <a:ea typeface="Segoe UI"/>
                <a:cs typeface="Segoe UI"/>
              </a:rPr>
              <a:t>​</a:t>
            </a:r>
          </a:p>
          <a:p>
            <a:pPr marL="285750" indent="-285750" algn="just">
              <a:buChar char="•"/>
            </a:pPr>
            <a:endParaRPr lang="en-US" sz="1600" dirty="0">
              <a:latin typeface="Arial"/>
              <a:ea typeface="Segoe UI"/>
              <a:cs typeface="Segoe UI"/>
            </a:endParaRPr>
          </a:p>
          <a:p>
            <a:pPr algn="just">
              <a:lnSpc>
                <a:spcPts val="1275"/>
              </a:lnSpc>
            </a:pPr>
            <a:r>
              <a:rPr lang="en-US" sz="1600" b="1" dirty="0"/>
              <a:t>Evaluation Strategy:</a:t>
            </a:r>
          </a:p>
          <a:p>
            <a:pPr marL="285750" indent="-285750" algn="just">
              <a:lnSpc>
                <a:spcPts val="1275"/>
              </a:lnSpc>
              <a:buChar char="•"/>
            </a:pPr>
            <a:endParaRPr lang="en-US" sz="1600" dirty="0"/>
          </a:p>
          <a:p>
            <a:pPr marL="285750" indent="-285750" algn="just">
              <a:lnSpc>
                <a:spcPts val="1275"/>
              </a:lnSpc>
              <a:buFont typeface="Arial,Sans-Serif"/>
              <a:buChar char="•"/>
            </a:pPr>
            <a:r>
              <a:rPr lang="en-US" sz="1600" dirty="0"/>
              <a:t>Monitored performance on validation set using metrics: </a:t>
            </a:r>
            <a:r>
              <a:rPr lang="en-US" sz="1600" dirty="0" err="1"/>
              <a:t>accuracy,precision</a:t>
            </a:r>
            <a:r>
              <a:rPr lang="en-US" sz="1600" dirty="0"/>
              <a:t>, recall, F1-score.  </a:t>
            </a:r>
          </a:p>
          <a:p>
            <a:pPr marL="285750" indent="-285750" algn="just">
              <a:lnSpc>
                <a:spcPts val="1275"/>
              </a:lnSpc>
              <a:buFont typeface="Arial,Sans-Serif"/>
              <a:buChar char="•"/>
            </a:pPr>
            <a:endParaRPr lang="en-US" sz="1600" dirty="0"/>
          </a:p>
          <a:p>
            <a:pPr marL="285750" indent="-285750" algn="just">
              <a:lnSpc>
                <a:spcPts val="1275"/>
              </a:lnSpc>
              <a:buFont typeface="Arial,Sans-Serif"/>
              <a:buChar char="•"/>
            </a:pPr>
            <a:r>
              <a:rPr lang="en-US" sz="1600" dirty="0"/>
              <a:t>Final model assessed on the test set, including confusion matrix </a:t>
            </a:r>
            <a:r>
              <a:rPr lang="en-US" sz="1600" dirty="0" err="1"/>
              <a:t>andclass</a:t>
            </a:r>
            <a:r>
              <a:rPr lang="en-US" sz="1600" dirty="0"/>
              <a:t>-wise performance analysis. </a:t>
            </a:r>
          </a:p>
          <a:p>
            <a:pPr marL="285750" indent="-285750" algn="just">
              <a:lnSpc>
                <a:spcPts val="1275"/>
              </a:lnSpc>
              <a:buChar char="•"/>
            </a:pPr>
            <a:endParaRPr lang="en-US"/>
          </a:p>
          <a:p>
            <a:pPr marL="285750" indent="-285750" algn="just">
              <a:buChar char="•"/>
            </a:pPr>
            <a:endParaRPr lang="en-US" sz="1600" dirty="0">
              <a:cs typeface="Segoe UI"/>
            </a:endParaRPr>
          </a:p>
          <a:p>
            <a:pPr algn="just"/>
            <a:endParaRPr lang="en-US" dirty="0">
              <a:cs typeface="Segoe UI"/>
            </a:endParaRPr>
          </a:p>
          <a:p>
            <a:pPr algn="ctr"/>
            <a:endParaRPr lang="en-US"/>
          </a:p>
        </p:txBody>
      </p:sp>
    </p:spTree>
    <p:extLst>
      <p:ext uri="{BB962C8B-B14F-4D97-AF65-F5344CB8AC3E}">
        <p14:creationId xmlns:p14="http://schemas.microsoft.com/office/powerpoint/2010/main" val="33964362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2">
          <a:extLst>
            <a:ext uri="{FF2B5EF4-FFF2-40B4-BE49-F238E27FC236}">
              <a16:creationId xmlns:a16="http://schemas.microsoft.com/office/drawing/2014/main" id="{ADDEBECA-1CD0-6C44-0BEE-CEA11FDE38FE}"/>
            </a:ext>
          </a:extLst>
        </p:cNvPr>
        <p:cNvGrpSpPr/>
        <p:nvPr/>
      </p:nvGrpSpPr>
      <p:grpSpPr>
        <a:xfrm>
          <a:off x="0" y="0"/>
          <a:ext cx="0" cy="0"/>
          <a:chOff x="0" y="0"/>
          <a:chExt cx="0" cy="0"/>
        </a:xfrm>
      </p:grpSpPr>
      <p:sp>
        <p:nvSpPr>
          <p:cNvPr id="204" name="Google Shape;204;g22f13355470_0_53">
            <a:extLst>
              <a:ext uri="{FF2B5EF4-FFF2-40B4-BE49-F238E27FC236}">
                <a16:creationId xmlns:a16="http://schemas.microsoft.com/office/drawing/2014/main" id="{B00E9DE9-F1D1-E38E-CE86-7FA4BC58F14E}"/>
              </a:ext>
            </a:extLst>
          </p:cNvPr>
          <p:cNvSpPr txBox="1">
            <a:spLocks noGrp="1"/>
          </p:cNvSpPr>
          <p:nvPr>
            <p:ph type="sldNum" idx="12"/>
          </p:nvPr>
        </p:nvSpPr>
        <p:spPr>
          <a:xfrm>
            <a:off x="6553200" y="6373546"/>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050"/>
              <a:buFont typeface="Arial"/>
              <a:buNone/>
            </a:pPr>
            <a:fld id="{00000000-1234-1234-1234-123412341234}" type="slidenum">
              <a:rPr lang="en-IN"/>
              <a:t>16</a:t>
            </a:fld>
            <a:endParaRPr/>
          </a:p>
        </p:txBody>
      </p:sp>
      <p:sp>
        <p:nvSpPr>
          <p:cNvPr id="4" name="Title 3">
            <a:extLst>
              <a:ext uri="{FF2B5EF4-FFF2-40B4-BE49-F238E27FC236}">
                <a16:creationId xmlns:a16="http://schemas.microsoft.com/office/drawing/2014/main" id="{04E18D0E-4DDC-A2C3-570B-A05D93F0361E}"/>
              </a:ext>
            </a:extLst>
          </p:cNvPr>
          <p:cNvSpPr>
            <a:spLocks noGrp="1"/>
          </p:cNvSpPr>
          <p:nvPr>
            <p:ph type="title"/>
          </p:nvPr>
        </p:nvSpPr>
        <p:spPr>
          <a:xfrm>
            <a:off x="251253" y="1975023"/>
            <a:ext cx="8270789" cy="3838831"/>
          </a:xfrm>
        </p:spPr>
        <p:txBody>
          <a:bodyPr spcFirstLastPara="1" wrap="square" lIns="91425" tIns="45700" rIns="91425" bIns="45700" anchor="ctr" anchorCtr="0">
            <a:noAutofit/>
          </a:bodyPr>
          <a:lstStyle/>
          <a:p>
            <a:pPr algn="l"/>
            <a:endParaRPr lang="en-US" sz="2400" b="0"/>
          </a:p>
          <a:p>
            <a:endParaRPr lang="en-US"/>
          </a:p>
        </p:txBody>
      </p:sp>
      <p:sp>
        <p:nvSpPr>
          <p:cNvPr id="2" name="TextBox 1">
            <a:extLst>
              <a:ext uri="{FF2B5EF4-FFF2-40B4-BE49-F238E27FC236}">
                <a16:creationId xmlns:a16="http://schemas.microsoft.com/office/drawing/2014/main" id="{E4453C33-1785-7B9F-984C-13E47525AA04}"/>
              </a:ext>
            </a:extLst>
          </p:cNvPr>
          <p:cNvSpPr txBox="1"/>
          <p:nvPr/>
        </p:nvSpPr>
        <p:spPr>
          <a:xfrm>
            <a:off x="203886" y="1305697"/>
            <a:ext cx="8746523" cy="21236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IN" sz="3600" b="1">
                <a:latin typeface="Times New Roman"/>
                <a:ea typeface="Calibri"/>
                <a:cs typeface="Times New Roman"/>
              </a:rPr>
              <a:t>Result and Analysis </a:t>
            </a:r>
            <a:endParaRPr lang="en-US" sz="3600">
              <a:latin typeface="Times New Roman"/>
              <a:ea typeface="Calibri"/>
              <a:cs typeface="Times New Roman"/>
            </a:endParaRPr>
          </a:p>
          <a:p>
            <a:endParaRPr lang="en-US" sz="1600" b="1">
              <a:ea typeface="Calibri"/>
            </a:endParaRPr>
          </a:p>
          <a:p>
            <a:br>
              <a:rPr lang="en-US" sz="1600" b="1">
                <a:ea typeface="Calibri"/>
              </a:rPr>
            </a:br>
            <a:r>
              <a:rPr lang="en-US" sz="1600" b="1">
                <a:ea typeface="Calibri"/>
              </a:rPr>
              <a:t>The proposed hybrid model (ResNet-50 + Vision Transformer) achieved an overall </a:t>
            </a:r>
            <a:r>
              <a:rPr lang="en-US" sz="1600">
                <a:ea typeface="Calibri"/>
              </a:rPr>
              <a:t>accuracy of 77.4% on the HAM10000 test set, demonstrating significant improvement over standalone architectures.</a:t>
            </a:r>
            <a:endParaRPr lang="en-US"/>
          </a:p>
          <a:p>
            <a:pPr marL="228600" indent="-228600">
              <a:buChar char="•"/>
            </a:pPr>
            <a:endParaRPr lang="en-US" sz="1600">
              <a:ea typeface="Calibri"/>
            </a:endParaRPr>
          </a:p>
        </p:txBody>
      </p:sp>
      <p:pic>
        <p:nvPicPr>
          <p:cNvPr id="5" name="Picture 4" descr="A table of numbers and symbols&#10;&#10;AI-generated content may be incorrect.">
            <a:extLst>
              <a:ext uri="{FF2B5EF4-FFF2-40B4-BE49-F238E27FC236}">
                <a16:creationId xmlns:a16="http://schemas.microsoft.com/office/drawing/2014/main" id="{3CAAA5A7-C723-C747-B223-EAE4E360CC57}"/>
              </a:ext>
            </a:extLst>
          </p:cNvPr>
          <p:cNvPicPr>
            <a:picLocks noChangeAspect="1"/>
          </p:cNvPicPr>
          <p:nvPr/>
        </p:nvPicPr>
        <p:blipFill>
          <a:blip r:embed="rId3"/>
          <a:stretch>
            <a:fillRect/>
          </a:stretch>
        </p:blipFill>
        <p:spPr>
          <a:xfrm>
            <a:off x="1071562" y="3286382"/>
            <a:ext cx="7000875" cy="3086100"/>
          </a:xfrm>
          <a:prstGeom prst="rect">
            <a:avLst/>
          </a:prstGeom>
        </p:spPr>
      </p:pic>
    </p:spTree>
    <p:extLst>
      <p:ext uri="{BB962C8B-B14F-4D97-AF65-F5344CB8AC3E}">
        <p14:creationId xmlns:p14="http://schemas.microsoft.com/office/powerpoint/2010/main" val="39328660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2">
          <a:extLst>
            <a:ext uri="{FF2B5EF4-FFF2-40B4-BE49-F238E27FC236}">
              <a16:creationId xmlns:a16="http://schemas.microsoft.com/office/drawing/2014/main" id="{B5D6F28C-C582-D68A-CB4A-40EC0E62C543}"/>
            </a:ext>
          </a:extLst>
        </p:cNvPr>
        <p:cNvGrpSpPr/>
        <p:nvPr/>
      </p:nvGrpSpPr>
      <p:grpSpPr>
        <a:xfrm>
          <a:off x="0" y="0"/>
          <a:ext cx="0" cy="0"/>
          <a:chOff x="0" y="0"/>
          <a:chExt cx="0" cy="0"/>
        </a:xfrm>
      </p:grpSpPr>
      <p:sp>
        <p:nvSpPr>
          <p:cNvPr id="204" name="Google Shape;204;g22f13355470_0_53">
            <a:extLst>
              <a:ext uri="{FF2B5EF4-FFF2-40B4-BE49-F238E27FC236}">
                <a16:creationId xmlns:a16="http://schemas.microsoft.com/office/drawing/2014/main" id="{765E1C7B-31BE-65A7-B8C1-584B375921A7}"/>
              </a:ext>
            </a:extLst>
          </p:cNvPr>
          <p:cNvSpPr txBox="1">
            <a:spLocks noGrp="1"/>
          </p:cNvSpPr>
          <p:nvPr>
            <p:ph type="sldNum" idx="12"/>
          </p:nvPr>
        </p:nvSpPr>
        <p:spPr>
          <a:xfrm>
            <a:off x="6553200" y="6373546"/>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050"/>
              <a:buFont typeface="Arial"/>
              <a:buNone/>
            </a:pPr>
            <a:fld id="{00000000-1234-1234-1234-123412341234}" type="slidenum">
              <a:rPr lang="en-IN"/>
              <a:t>17</a:t>
            </a:fld>
            <a:endParaRPr/>
          </a:p>
        </p:txBody>
      </p:sp>
      <p:sp>
        <p:nvSpPr>
          <p:cNvPr id="5" name="TextBox 4">
            <a:extLst>
              <a:ext uri="{FF2B5EF4-FFF2-40B4-BE49-F238E27FC236}">
                <a16:creationId xmlns:a16="http://schemas.microsoft.com/office/drawing/2014/main" id="{E557583A-EEEF-EDBC-FF0B-39A51649FE8C}"/>
              </a:ext>
            </a:extLst>
          </p:cNvPr>
          <p:cNvSpPr txBox="1"/>
          <p:nvPr/>
        </p:nvSpPr>
        <p:spPr>
          <a:xfrm>
            <a:off x="195650" y="1400433"/>
            <a:ext cx="8505565"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Char char="•"/>
            </a:pPr>
            <a:r>
              <a:rPr lang="en-US" sz="1600" dirty="0">
                <a:ea typeface="fkGroteskNeue"/>
                <a:cs typeface="fkGroteskNeue"/>
              </a:rPr>
              <a:t>Class-Wise Analysis:</a:t>
            </a:r>
            <a:br>
              <a:rPr lang="en-US" sz="1600" dirty="0">
                <a:ea typeface="fkGroteskNeue"/>
                <a:cs typeface="fkGroteskNeue"/>
              </a:rPr>
            </a:br>
            <a:r>
              <a:rPr lang="en-US" sz="1600" dirty="0">
                <a:ea typeface="fkGroteskNeue"/>
                <a:cs typeface="fkGroteskNeue"/>
              </a:rPr>
              <a:t>The hybrid model maintained high precision and recall even for rare classes, such as Dermatofibroma (DF) and Vascular Lesion (VASC), proving the effectiveness of aggressive data augmentation and class balancing.</a:t>
            </a:r>
          </a:p>
          <a:p>
            <a:pPr marL="228600" indent="-228600">
              <a:buFont typeface=""/>
              <a:buChar char="•"/>
            </a:pPr>
            <a:r>
              <a:rPr lang="en-US" sz="1600" dirty="0">
                <a:solidFill>
                  <a:schemeClr val="tx2">
                    <a:lumMod val="10000"/>
                  </a:schemeClr>
                </a:solidFill>
                <a:ea typeface="fkGroteskNeue"/>
                <a:cs typeface="fkGroteskNeue"/>
              </a:rPr>
              <a:t>Confusion</a:t>
            </a:r>
            <a:r>
              <a:rPr lang="en-US" sz="1600" dirty="0">
                <a:ea typeface="fkGroteskNeue"/>
                <a:cs typeface="fkGroteskNeue"/>
              </a:rPr>
              <a:t> Matrix:</a:t>
            </a:r>
            <a:br>
              <a:rPr lang="en-US" sz="1600" dirty="0">
                <a:ea typeface="fkGroteskNeue"/>
                <a:cs typeface="fkGroteskNeue"/>
              </a:rPr>
            </a:br>
            <a:r>
              <a:rPr lang="en-US" sz="1600" dirty="0">
                <a:ea typeface="fkGroteskNeue"/>
                <a:cs typeface="fkGroteskNeue"/>
              </a:rPr>
              <a:t>The confusion matrix shows most predictions occur on the diagonal, confirming robust true-class detection. Overall test accuracy from confusion matrix:</a:t>
            </a:r>
          </a:p>
          <a:p>
            <a:pPr algn="ctr"/>
            <a:endParaRPr lang="en-US"/>
          </a:p>
        </p:txBody>
      </p:sp>
      <p:pic>
        <p:nvPicPr>
          <p:cNvPr id="6" name="Picture 5" descr="A screenshot of a graph&#10;&#10;AI-generated content may be incorrect.">
            <a:extLst>
              <a:ext uri="{FF2B5EF4-FFF2-40B4-BE49-F238E27FC236}">
                <a16:creationId xmlns:a16="http://schemas.microsoft.com/office/drawing/2014/main" id="{E2B771C3-FFF7-63A4-D954-58C4C72954C0}"/>
              </a:ext>
            </a:extLst>
          </p:cNvPr>
          <p:cNvPicPr>
            <a:picLocks noChangeAspect="1"/>
          </p:cNvPicPr>
          <p:nvPr/>
        </p:nvPicPr>
        <p:blipFill>
          <a:blip r:embed="rId3"/>
          <a:stretch>
            <a:fillRect/>
          </a:stretch>
        </p:blipFill>
        <p:spPr>
          <a:xfrm>
            <a:off x="1615645" y="3258193"/>
            <a:ext cx="5923007" cy="3286642"/>
          </a:xfrm>
          <a:prstGeom prst="rect">
            <a:avLst/>
          </a:prstGeom>
        </p:spPr>
      </p:pic>
    </p:spTree>
    <p:extLst>
      <p:ext uri="{BB962C8B-B14F-4D97-AF65-F5344CB8AC3E}">
        <p14:creationId xmlns:p14="http://schemas.microsoft.com/office/powerpoint/2010/main" val="9248615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2">
          <a:extLst>
            <a:ext uri="{FF2B5EF4-FFF2-40B4-BE49-F238E27FC236}">
              <a16:creationId xmlns:a16="http://schemas.microsoft.com/office/drawing/2014/main" id="{39740A82-F0E0-1795-FC7C-3B699DD24F3E}"/>
            </a:ext>
          </a:extLst>
        </p:cNvPr>
        <p:cNvGrpSpPr/>
        <p:nvPr/>
      </p:nvGrpSpPr>
      <p:grpSpPr>
        <a:xfrm>
          <a:off x="0" y="0"/>
          <a:ext cx="0" cy="0"/>
          <a:chOff x="0" y="0"/>
          <a:chExt cx="0" cy="0"/>
        </a:xfrm>
      </p:grpSpPr>
      <p:sp>
        <p:nvSpPr>
          <p:cNvPr id="204" name="Google Shape;204;g22f13355470_0_53">
            <a:extLst>
              <a:ext uri="{FF2B5EF4-FFF2-40B4-BE49-F238E27FC236}">
                <a16:creationId xmlns:a16="http://schemas.microsoft.com/office/drawing/2014/main" id="{9E114B40-7545-96ED-1E07-A6A173E05549}"/>
              </a:ext>
            </a:extLst>
          </p:cNvPr>
          <p:cNvSpPr txBox="1">
            <a:spLocks noGrp="1"/>
          </p:cNvSpPr>
          <p:nvPr>
            <p:ph type="sldNum" idx="12"/>
          </p:nvPr>
        </p:nvSpPr>
        <p:spPr>
          <a:xfrm>
            <a:off x="6553200" y="6373546"/>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050"/>
              <a:buFont typeface="Arial"/>
              <a:buNone/>
            </a:pPr>
            <a:fld id="{00000000-1234-1234-1234-123412341234}" type="slidenum">
              <a:rPr lang="en-IN"/>
              <a:t>18</a:t>
            </a:fld>
            <a:endParaRPr/>
          </a:p>
        </p:txBody>
      </p:sp>
      <p:sp>
        <p:nvSpPr>
          <p:cNvPr id="4" name="Title 3">
            <a:extLst>
              <a:ext uri="{FF2B5EF4-FFF2-40B4-BE49-F238E27FC236}">
                <a16:creationId xmlns:a16="http://schemas.microsoft.com/office/drawing/2014/main" id="{F9DC6D6E-8F5B-E99E-9E51-FF5368698420}"/>
              </a:ext>
            </a:extLst>
          </p:cNvPr>
          <p:cNvSpPr>
            <a:spLocks noGrp="1"/>
          </p:cNvSpPr>
          <p:nvPr>
            <p:ph type="title"/>
          </p:nvPr>
        </p:nvSpPr>
        <p:spPr>
          <a:xfrm>
            <a:off x="220362" y="3900617"/>
            <a:ext cx="8229600" cy="914400"/>
          </a:xfrm>
        </p:spPr>
        <p:txBody>
          <a:bodyPr>
            <a:normAutofit/>
          </a:bodyPr>
          <a:lstStyle/>
          <a:p>
            <a:pPr algn="l"/>
            <a:endParaRPr lang="en-US" sz="2800" b="0"/>
          </a:p>
          <a:p>
            <a:endParaRPr lang="en-US"/>
          </a:p>
        </p:txBody>
      </p:sp>
      <p:sp>
        <p:nvSpPr>
          <p:cNvPr id="3" name="TextBox 2">
            <a:extLst>
              <a:ext uri="{FF2B5EF4-FFF2-40B4-BE49-F238E27FC236}">
                <a16:creationId xmlns:a16="http://schemas.microsoft.com/office/drawing/2014/main" id="{93784568-1CA2-9711-2741-32D6D4DC98EB}"/>
              </a:ext>
            </a:extLst>
          </p:cNvPr>
          <p:cNvSpPr txBox="1"/>
          <p:nvPr/>
        </p:nvSpPr>
        <p:spPr>
          <a:xfrm>
            <a:off x="813487" y="2265406"/>
            <a:ext cx="7259593" cy="30162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Char char="•"/>
            </a:pPr>
            <a:r>
              <a:rPr lang="en-US" sz="1600" dirty="0">
                <a:solidFill>
                  <a:schemeClr val="tx2">
                    <a:lumMod val="10000"/>
                  </a:schemeClr>
                </a:solidFill>
                <a:ea typeface="fkGroteskNeue"/>
                <a:cs typeface="fkGroteskNeue"/>
              </a:rPr>
              <a:t>Learning Curves:</a:t>
            </a:r>
            <a:br>
              <a:rPr lang="en-US" sz="1600" dirty="0">
                <a:solidFill>
                  <a:schemeClr val="tx2">
                    <a:lumMod val="10000"/>
                  </a:schemeClr>
                </a:solidFill>
                <a:ea typeface="fkGroteskNeue"/>
                <a:cs typeface="fkGroteskNeue"/>
              </a:rPr>
            </a:br>
            <a:r>
              <a:rPr lang="en-US" sz="1600" dirty="0">
                <a:solidFill>
                  <a:schemeClr val="tx2">
                    <a:lumMod val="10000"/>
                  </a:schemeClr>
                </a:solidFill>
                <a:ea typeface="fkGroteskNeue"/>
                <a:cs typeface="fkGroteskNeue"/>
              </a:rPr>
              <a:t>Accuracy and loss graphs indicate fast convergence during training, low overfitting, and stable validation performance.</a:t>
            </a:r>
            <a:endParaRPr lang="en-US" sz="1600" dirty="0">
              <a:solidFill>
                <a:schemeClr val="tx2">
                  <a:lumMod val="10000"/>
                </a:schemeClr>
              </a:solidFill>
            </a:endParaRPr>
          </a:p>
          <a:p>
            <a:pPr marL="228600" indent="-228600">
              <a:buFont typeface=""/>
              <a:buChar char="•"/>
            </a:pPr>
            <a:r>
              <a:rPr lang="en-US" sz="1600" dirty="0">
                <a:solidFill>
                  <a:schemeClr val="tx2">
                    <a:lumMod val="10000"/>
                  </a:schemeClr>
                </a:solidFill>
                <a:ea typeface="fkGroteskNeue"/>
                <a:cs typeface="fkGroteskNeue"/>
              </a:rPr>
              <a:t>Ablation Study:</a:t>
            </a:r>
            <a:br>
              <a:rPr lang="en-US" sz="1600" dirty="0">
                <a:solidFill>
                  <a:schemeClr val="tx2">
                    <a:lumMod val="10000"/>
                  </a:schemeClr>
                </a:solidFill>
                <a:ea typeface="fkGroteskNeue"/>
                <a:cs typeface="fkGroteskNeue"/>
              </a:rPr>
            </a:br>
            <a:r>
              <a:rPr lang="en-US" sz="1600" dirty="0">
                <a:solidFill>
                  <a:schemeClr val="tx2">
                    <a:lumMod val="10000"/>
                  </a:schemeClr>
                </a:solidFill>
                <a:ea typeface="fkGroteskNeue"/>
                <a:cs typeface="fkGroteskNeue"/>
              </a:rPr>
              <a:t>Adding Vision Transformer and advanced augmentation improved F1-score and recall. Both attention mechanism and fusion techniques were crucial for reaching top metrics.</a:t>
            </a:r>
          </a:p>
          <a:p>
            <a:pPr marL="228600" indent="-228600">
              <a:buFont typeface=""/>
              <a:buChar char="•"/>
            </a:pPr>
            <a:r>
              <a:rPr lang="en-US" sz="1600" dirty="0">
                <a:solidFill>
                  <a:schemeClr val="tx2">
                    <a:lumMod val="10000"/>
                  </a:schemeClr>
                </a:solidFill>
                <a:ea typeface="fkGroteskNeue"/>
                <a:cs typeface="fkGroteskNeue"/>
              </a:rPr>
              <a:t>Conclusion of Analysis:</a:t>
            </a:r>
            <a:br>
              <a:rPr lang="en-US" sz="1600" dirty="0">
                <a:solidFill>
                  <a:schemeClr val="tx2">
                    <a:lumMod val="10000"/>
                  </a:schemeClr>
                </a:solidFill>
                <a:ea typeface="fkGroteskNeue"/>
                <a:cs typeface="fkGroteskNeue"/>
              </a:rPr>
            </a:br>
            <a:r>
              <a:rPr lang="en-US" sz="1600" dirty="0">
                <a:solidFill>
                  <a:schemeClr val="tx2">
                    <a:lumMod val="10000"/>
                  </a:schemeClr>
                </a:solidFill>
                <a:ea typeface="fkGroteskNeue"/>
                <a:cs typeface="fkGroteskNeue"/>
              </a:rPr>
              <a:t>These results validate that combining CNN and transformer architectures with careful data handling enables reliable, scalable, and clinically valuable skin lesion classification.</a:t>
            </a:r>
          </a:p>
          <a:p>
            <a:pPr algn="ctr"/>
            <a:endParaRPr lang="en-US"/>
          </a:p>
        </p:txBody>
      </p:sp>
    </p:spTree>
    <p:extLst>
      <p:ext uri="{BB962C8B-B14F-4D97-AF65-F5344CB8AC3E}">
        <p14:creationId xmlns:p14="http://schemas.microsoft.com/office/powerpoint/2010/main" val="409056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2">
          <a:extLst>
            <a:ext uri="{FF2B5EF4-FFF2-40B4-BE49-F238E27FC236}">
              <a16:creationId xmlns:a16="http://schemas.microsoft.com/office/drawing/2014/main" id="{424E2902-54E4-BF27-F77D-7426AC602EEC}"/>
            </a:ext>
          </a:extLst>
        </p:cNvPr>
        <p:cNvGrpSpPr/>
        <p:nvPr/>
      </p:nvGrpSpPr>
      <p:grpSpPr>
        <a:xfrm>
          <a:off x="0" y="0"/>
          <a:ext cx="0" cy="0"/>
          <a:chOff x="0" y="0"/>
          <a:chExt cx="0" cy="0"/>
        </a:xfrm>
      </p:grpSpPr>
      <p:sp>
        <p:nvSpPr>
          <p:cNvPr id="204" name="Google Shape;204;g22f13355470_0_53">
            <a:extLst>
              <a:ext uri="{FF2B5EF4-FFF2-40B4-BE49-F238E27FC236}">
                <a16:creationId xmlns:a16="http://schemas.microsoft.com/office/drawing/2014/main" id="{6C0D64DD-1716-82E2-9C73-5EA88470D2A2}"/>
              </a:ext>
            </a:extLst>
          </p:cNvPr>
          <p:cNvSpPr txBox="1">
            <a:spLocks noGrp="1"/>
          </p:cNvSpPr>
          <p:nvPr>
            <p:ph type="sldNum" idx="12"/>
          </p:nvPr>
        </p:nvSpPr>
        <p:spPr>
          <a:xfrm>
            <a:off x="6553200" y="6373546"/>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050"/>
              <a:buFont typeface="Arial"/>
              <a:buNone/>
            </a:pPr>
            <a:fld id="{00000000-1234-1234-1234-123412341234}" type="slidenum">
              <a:rPr lang="en-IN"/>
              <a:t>19</a:t>
            </a:fld>
            <a:endParaRPr/>
          </a:p>
        </p:txBody>
      </p:sp>
      <p:sp>
        <p:nvSpPr>
          <p:cNvPr id="4" name="Title 3">
            <a:extLst>
              <a:ext uri="{FF2B5EF4-FFF2-40B4-BE49-F238E27FC236}">
                <a16:creationId xmlns:a16="http://schemas.microsoft.com/office/drawing/2014/main" id="{52B055C9-8638-09B4-575E-9AD6F3BA11A8}"/>
              </a:ext>
            </a:extLst>
          </p:cNvPr>
          <p:cNvSpPr>
            <a:spLocks noGrp="1"/>
          </p:cNvSpPr>
          <p:nvPr>
            <p:ph type="title"/>
          </p:nvPr>
        </p:nvSpPr>
        <p:spPr>
          <a:xfrm>
            <a:off x="220362" y="3900617"/>
            <a:ext cx="8229600" cy="914400"/>
          </a:xfrm>
        </p:spPr>
        <p:txBody>
          <a:bodyPr>
            <a:normAutofit/>
          </a:bodyPr>
          <a:lstStyle/>
          <a:p>
            <a:pPr algn="l"/>
            <a:endParaRPr lang="en-US" sz="2800" b="0"/>
          </a:p>
          <a:p>
            <a:endParaRPr lang="en-US"/>
          </a:p>
        </p:txBody>
      </p:sp>
      <p:pic>
        <p:nvPicPr>
          <p:cNvPr id="2" name="Picture 1" descr="A graph of loss and loss over ephs&#10;&#10;AI-generated content may be incorrect.">
            <a:extLst>
              <a:ext uri="{FF2B5EF4-FFF2-40B4-BE49-F238E27FC236}">
                <a16:creationId xmlns:a16="http://schemas.microsoft.com/office/drawing/2014/main" id="{65A377E5-33C7-A1A5-764E-C8D0B8A37665}"/>
              </a:ext>
            </a:extLst>
          </p:cNvPr>
          <p:cNvPicPr>
            <a:picLocks noChangeAspect="1"/>
          </p:cNvPicPr>
          <p:nvPr/>
        </p:nvPicPr>
        <p:blipFill>
          <a:blip r:embed="rId3"/>
          <a:stretch>
            <a:fillRect/>
          </a:stretch>
        </p:blipFill>
        <p:spPr>
          <a:xfrm>
            <a:off x="1171317" y="2296555"/>
            <a:ext cx="7048500" cy="3562350"/>
          </a:xfrm>
          <a:prstGeom prst="rect">
            <a:avLst/>
          </a:prstGeom>
        </p:spPr>
      </p:pic>
      <p:sp>
        <p:nvSpPr>
          <p:cNvPr id="3" name="TextBox 2">
            <a:extLst>
              <a:ext uri="{FF2B5EF4-FFF2-40B4-BE49-F238E27FC236}">
                <a16:creationId xmlns:a16="http://schemas.microsoft.com/office/drawing/2014/main" id="{6A99270D-CEFD-87CF-AA5E-B63FC17FDBDF}"/>
              </a:ext>
            </a:extLst>
          </p:cNvPr>
          <p:cNvSpPr txBox="1"/>
          <p:nvPr/>
        </p:nvSpPr>
        <p:spPr>
          <a:xfrm>
            <a:off x="3212757" y="1431325"/>
            <a:ext cx="3871784"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a:latin typeface="Times New Roman"/>
              </a:rPr>
              <a:t>ResNet-50</a:t>
            </a:r>
          </a:p>
          <a:p>
            <a:pPr algn="ctr"/>
            <a:endParaRPr lang="en-US"/>
          </a:p>
        </p:txBody>
      </p:sp>
    </p:spTree>
    <p:extLst>
      <p:ext uri="{BB962C8B-B14F-4D97-AF65-F5344CB8AC3E}">
        <p14:creationId xmlns:p14="http://schemas.microsoft.com/office/powerpoint/2010/main" val="20924732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2">
          <a:extLst>
            <a:ext uri="{FF2B5EF4-FFF2-40B4-BE49-F238E27FC236}">
              <a16:creationId xmlns:a16="http://schemas.microsoft.com/office/drawing/2014/main" id="{6FC52030-AD3E-1F5B-F310-1A70A23F5057}"/>
            </a:ext>
          </a:extLst>
        </p:cNvPr>
        <p:cNvGrpSpPr/>
        <p:nvPr/>
      </p:nvGrpSpPr>
      <p:grpSpPr>
        <a:xfrm>
          <a:off x="0" y="0"/>
          <a:ext cx="0" cy="0"/>
          <a:chOff x="0" y="0"/>
          <a:chExt cx="0" cy="0"/>
        </a:xfrm>
      </p:grpSpPr>
      <p:sp>
        <p:nvSpPr>
          <p:cNvPr id="204" name="Google Shape;204;g22f13355470_0_53">
            <a:extLst>
              <a:ext uri="{FF2B5EF4-FFF2-40B4-BE49-F238E27FC236}">
                <a16:creationId xmlns:a16="http://schemas.microsoft.com/office/drawing/2014/main" id="{07B056AD-2732-E965-570C-20EAF2879F23}"/>
              </a:ext>
            </a:extLst>
          </p:cNvPr>
          <p:cNvSpPr txBox="1">
            <a:spLocks noGrp="1"/>
          </p:cNvSpPr>
          <p:nvPr>
            <p:ph type="sldNum" idx="12"/>
          </p:nvPr>
        </p:nvSpPr>
        <p:spPr>
          <a:xfrm>
            <a:off x="6553200" y="6373546"/>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050"/>
              <a:buFont typeface="Arial"/>
              <a:buNone/>
            </a:pPr>
            <a:fld id="{00000000-1234-1234-1234-123412341234}" type="slidenum">
              <a:rPr lang="en-IN"/>
              <a:t>20</a:t>
            </a:fld>
            <a:endParaRPr/>
          </a:p>
        </p:txBody>
      </p:sp>
      <p:sp>
        <p:nvSpPr>
          <p:cNvPr id="4" name="Title 3">
            <a:extLst>
              <a:ext uri="{FF2B5EF4-FFF2-40B4-BE49-F238E27FC236}">
                <a16:creationId xmlns:a16="http://schemas.microsoft.com/office/drawing/2014/main" id="{0EF5D996-CB60-98BB-ADA2-7527467FB49A}"/>
              </a:ext>
            </a:extLst>
          </p:cNvPr>
          <p:cNvSpPr>
            <a:spLocks noGrp="1"/>
          </p:cNvSpPr>
          <p:nvPr>
            <p:ph type="title"/>
          </p:nvPr>
        </p:nvSpPr>
        <p:spPr>
          <a:xfrm>
            <a:off x="220362" y="3900617"/>
            <a:ext cx="8229600" cy="914400"/>
          </a:xfrm>
        </p:spPr>
        <p:txBody>
          <a:bodyPr>
            <a:normAutofit/>
          </a:bodyPr>
          <a:lstStyle/>
          <a:p>
            <a:pPr algn="l"/>
            <a:endParaRPr lang="en-US" sz="2800" b="0"/>
          </a:p>
          <a:p>
            <a:endParaRPr lang="en-US"/>
          </a:p>
        </p:txBody>
      </p:sp>
      <p:sp>
        <p:nvSpPr>
          <p:cNvPr id="2" name="TextBox 1">
            <a:extLst>
              <a:ext uri="{FF2B5EF4-FFF2-40B4-BE49-F238E27FC236}">
                <a16:creationId xmlns:a16="http://schemas.microsoft.com/office/drawing/2014/main" id="{05E21E6D-3786-9239-AD2E-31243215DAA8}"/>
              </a:ext>
            </a:extLst>
          </p:cNvPr>
          <p:cNvSpPr txBox="1"/>
          <p:nvPr/>
        </p:nvSpPr>
        <p:spPr>
          <a:xfrm>
            <a:off x="2873991" y="1389792"/>
            <a:ext cx="366995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a:latin typeface="Times New Roman"/>
              </a:rPr>
              <a:t>ResNet-50 +VIT </a:t>
            </a:r>
          </a:p>
        </p:txBody>
      </p:sp>
      <p:pic>
        <p:nvPicPr>
          <p:cNvPr id="3" name="Picture 2">
            <a:extLst>
              <a:ext uri="{FF2B5EF4-FFF2-40B4-BE49-F238E27FC236}">
                <a16:creationId xmlns:a16="http://schemas.microsoft.com/office/drawing/2014/main" id="{C965587D-BC07-B5FE-6F38-2362F28B0FD6}"/>
              </a:ext>
            </a:extLst>
          </p:cNvPr>
          <p:cNvPicPr>
            <a:picLocks noChangeAspect="1"/>
          </p:cNvPicPr>
          <p:nvPr/>
        </p:nvPicPr>
        <p:blipFill>
          <a:blip r:embed="rId3"/>
          <a:stretch>
            <a:fillRect/>
          </a:stretch>
        </p:blipFill>
        <p:spPr>
          <a:xfrm>
            <a:off x="1368125" y="2369151"/>
            <a:ext cx="6696075" cy="3067050"/>
          </a:xfrm>
          <a:prstGeom prst="rect">
            <a:avLst/>
          </a:prstGeom>
        </p:spPr>
      </p:pic>
    </p:spTree>
    <p:extLst>
      <p:ext uri="{BB962C8B-B14F-4D97-AF65-F5344CB8AC3E}">
        <p14:creationId xmlns:p14="http://schemas.microsoft.com/office/powerpoint/2010/main" val="21070732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2">
          <a:extLst>
            <a:ext uri="{FF2B5EF4-FFF2-40B4-BE49-F238E27FC236}">
              <a16:creationId xmlns:a16="http://schemas.microsoft.com/office/drawing/2014/main" id="{2B566E0A-024A-50E2-115D-8FB5B4348524}"/>
            </a:ext>
          </a:extLst>
        </p:cNvPr>
        <p:cNvGrpSpPr/>
        <p:nvPr/>
      </p:nvGrpSpPr>
      <p:grpSpPr>
        <a:xfrm>
          <a:off x="0" y="0"/>
          <a:ext cx="0" cy="0"/>
          <a:chOff x="0" y="0"/>
          <a:chExt cx="0" cy="0"/>
        </a:xfrm>
      </p:grpSpPr>
      <p:sp>
        <p:nvSpPr>
          <p:cNvPr id="204" name="Google Shape;204;g22f13355470_0_53">
            <a:extLst>
              <a:ext uri="{FF2B5EF4-FFF2-40B4-BE49-F238E27FC236}">
                <a16:creationId xmlns:a16="http://schemas.microsoft.com/office/drawing/2014/main" id="{03E32C5A-7D4D-223F-71BE-7902A4015C77}"/>
              </a:ext>
            </a:extLst>
          </p:cNvPr>
          <p:cNvSpPr txBox="1">
            <a:spLocks noGrp="1"/>
          </p:cNvSpPr>
          <p:nvPr>
            <p:ph type="sldNum" idx="12"/>
          </p:nvPr>
        </p:nvSpPr>
        <p:spPr>
          <a:xfrm>
            <a:off x="6553200" y="6373546"/>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050"/>
              <a:buFont typeface="Arial"/>
              <a:buNone/>
            </a:pPr>
            <a:fld id="{00000000-1234-1234-1234-123412341234}" type="slidenum">
              <a:rPr lang="en-IN"/>
              <a:t>21</a:t>
            </a:fld>
            <a:endParaRPr/>
          </a:p>
        </p:txBody>
      </p:sp>
      <p:sp>
        <p:nvSpPr>
          <p:cNvPr id="4" name="Title 3">
            <a:extLst>
              <a:ext uri="{FF2B5EF4-FFF2-40B4-BE49-F238E27FC236}">
                <a16:creationId xmlns:a16="http://schemas.microsoft.com/office/drawing/2014/main" id="{974DFEBC-5CBC-E995-3931-9E88572102FC}"/>
              </a:ext>
            </a:extLst>
          </p:cNvPr>
          <p:cNvSpPr>
            <a:spLocks noGrp="1"/>
          </p:cNvSpPr>
          <p:nvPr>
            <p:ph type="title"/>
          </p:nvPr>
        </p:nvSpPr>
        <p:spPr>
          <a:xfrm>
            <a:off x="220362" y="3900617"/>
            <a:ext cx="8229600" cy="914400"/>
          </a:xfrm>
        </p:spPr>
        <p:txBody>
          <a:bodyPr>
            <a:normAutofit/>
          </a:bodyPr>
          <a:lstStyle/>
          <a:p>
            <a:pPr algn="l"/>
            <a:endParaRPr lang="en-US" sz="2800" b="0"/>
          </a:p>
          <a:p>
            <a:endParaRPr lang="en-US"/>
          </a:p>
        </p:txBody>
      </p:sp>
      <p:pic>
        <p:nvPicPr>
          <p:cNvPr id="2" name="Picture 1">
            <a:extLst>
              <a:ext uri="{FF2B5EF4-FFF2-40B4-BE49-F238E27FC236}">
                <a16:creationId xmlns:a16="http://schemas.microsoft.com/office/drawing/2014/main" id="{148694E6-71FB-BBF9-8138-E7547E6313E9}"/>
              </a:ext>
            </a:extLst>
          </p:cNvPr>
          <p:cNvPicPr>
            <a:picLocks noChangeAspect="1"/>
          </p:cNvPicPr>
          <p:nvPr/>
        </p:nvPicPr>
        <p:blipFill>
          <a:blip r:embed="rId3"/>
          <a:stretch>
            <a:fillRect/>
          </a:stretch>
        </p:blipFill>
        <p:spPr>
          <a:xfrm>
            <a:off x="1166812" y="1929842"/>
            <a:ext cx="6810375" cy="3533775"/>
          </a:xfrm>
          <a:prstGeom prst="rect">
            <a:avLst/>
          </a:prstGeom>
        </p:spPr>
      </p:pic>
    </p:spTree>
    <p:extLst>
      <p:ext uri="{BB962C8B-B14F-4D97-AF65-F5344CB8AC3E}">
        <p14:creationId xmlns:p14="http://schemas.microsoft.com/office/powerpoint/2010/main" val="15259389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2">
          <a:extLst>
            <a:ext uri="{FF2B5EF4-FFF2-40B4-BE49-F238E27FC236}">
              <a16:creationId xmlns:a16="http://schemas.microsoft.com/office/drawing/2014/main" id="{0D2941A5-FF48-2D97-C41F-204D85ADBC62}"/>
            </a:ext>
          </a:extLst>
        </p:cNvPr>
        <p:cNvGrpSpPr/>
        <p:nvPr/>
      </p:nvGrpSpPr>
      <p:grpSpPr>
        <a:xfrm>
          <a:off x="0" y="0"/>
          <a:ext cx="0" cy="0"/>
          <a:chOff x="0" y="0"/>
          <a:chExt cx="0" cy="0"/>
        </a:xfrm>
      </p:grpSpPr>
      <p:sp>
        <p:nvSpPr>
          <p:cNvPr id="204" name="Google Shape;204;g22f13355470_0_53">
            <a:extLst>
              <a:ext uri="{FF2B5EF4-FFF2-40B4-BE49-F238E27FC236}">
                <a16:creationId xmlns:a16="http://schemas.microsoft.com/office/drawing/2014/main" id="{E3666809-D41C-51B0-F74B-B193FBE3AE5F}"/>
              </a:ext>
            </a:extLst>
          </p:cNvPr>
          <p:cNvSpPr txBox="1">
            <a:spLocks noGrp="1"/>
          </p:cNvSpPr>
          <p:nvPr>
            <p:ph type="sldNum" idx="12"/>
          </p:nvPr>
        </p:nvSpPr>
        <p:spPr>
          <a:xfrm>
            <a:off x="6553200" y="6373546"/>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050"/>
              <a:buFont typeface="Arial"/>
              <a:buNone/>
            </a:pPr>
            <a:fld id="{00000000-1234-1234-1234-123412341234}" type="slidenum">
              <a:rPr lang="en-IN"/>
              <a:t>22</a:t>
            </a:fld>
            <a:endParaRPr/>
          </a:p>
        </p:txBody>
      </p:sp>
      <p:sp>
        <p:nvSpPr>
          <p:cNvPr id="4" name="Title 3">
            <a:extLst>
              <a:ext uri="{FF2B5EF4-FFF2-40B4-BE49-F238E27FC236}">
                <a16:creationId xmlns:a16="http://schemas.microsoft.com/office/drawing/2014/main" id="{15287704-0C5E-A358-B533-E2AEE271A107}"/>
              </a:ext>
            </a:extLst>
          </p:cNvPr>
          <p:cNvSpPr>
            <a:spLocks noGrp="1"/>
          </p:cNvSpPr>
          <p:nvPr>
            <p:ph type="title"/>
          </p:nvPr>
        </p:nvSpPr>
        <p:spPr>
          <a:xfrm>
            <a:off x="220362" y="3900617"/>
            <a:ext cx="8229600" cy="914400"/>
          </a:xfrm>
        </p:spPr>
        <p:txBody>
          <a:bodyPr>
            <a:normAutofit/>
          </a:bodyPr>
          <a:lstStyle/>
          <a:p>
            <a:pPr algn="l"/>
            <a:endParaRPr lang="en-US" sz="2800" b="0"/>
          </a:p>
          <a:p>
            <a:endParaRPr lang="en-US"/>
          </a:p>
        </p:txBody>
      </p:sp>
      <p:pic>
        <p:nvPicPr>
          <p:cNvPr id="5" name="Picture 4">
            <a:extLst>
              <a:ext uri="{FF2B5EF4-FFF2-40B4-BE49-F238E27FC236}">
                <a16:creationId xmlns:a16="http://schemas.microsoft.com/office/drawing/2014/main" id="{710234B4-56B3-BB17-1FCE-627F69FB0B5F}"/>
              </a:ext>
            </a:extLst>
          </p:cNvPr>
          <p:cNvPicPr>
            <a:picLocks noChangeAspect="1"/>
          </p:cNvPicPr>
          <p:nvPr/>
        </p:nvPicPr>
        <p:blipFill>
          <a:blip r:embed="rId3"/>
          <a:stretch>
            <a:fillRect/>
          </a:stretch>
        </p:blipFill>
        <p:spPr>
          <a:xfrm>
            <a:off x="694038" y="2262275"/>
            <a:ext cx="7934632" cy="3833587"/>
          </a:xfrm>
          <a:prstGeom prst="rect">
            <a:avLst/>
          </a:prstGeom>
        </p:spPr>
      </p:pic>
      <p:sp>
        <p:nvSpPr>
          <p:cNvPr id="6" name="TextBox 5">
            <a:extLst>
              <a:ext uri="{FF2B5EF4-FFF2-40B4-BE49-F238E27FC236}">
                <a16:creationId xmlns:a16="http://schemas.microsoft.com/office/drawing/2014/main" id="{493DD463-5CF9-F62F-83BA-B1F72CF67273}"/>
              </a:ext>
            </a:extLst>
          </p:cNvPr>
          <p:cNvSpPr txBox="1"/>
          <p:nvPr/>
        </p:nvSpPr>
        <p:spPr>
          <a:xfrm>
            <a:off x="584360" y="1954498"/>
            <a:ext cx="1055097" cy="307777"/>
          </a:xfrm>
          <a:prstGeom prst="rect">
            <a:avLst/>
          </a:prstGeom>
          <a:noFill/>
        </p:spPr>
        <p:txBody>
          <a:bodyPr wrap="none" rtlCol="0">
            <a:spAutoFit/>
          </a:bodyPr>
          <a:lstStyle/>
          <a:p>
            <a:r>
              <a:rPr lang="en-IN" dirty="0"/>
              <a:t>Flask + ml </a:t>
            </a:r>
          </a:p>
        </p:txBody>
      </p:sp>
    </p:spTree>
    <p:extLst>
      <p:ext uri="{BB962C8B-B14F-4D97-AF65-F5344CB8AC3E}">
        <p14:creationId xmlns:p14="http://schemas.microsoft.com/office/powerpoint/2010/main" val="39374238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2">
          <a:extLst>
            <a:ext uri="{FF2B5EF4-FFF2-40B4-BE49-F238E27FC236}">
              <a16:creationId xmlns:a16="http://schemas.microsoft.com/office/drawing/2014/main" id="{28E798BA-7BD3-7A7D-3760-064DB7B0D06A}"/>
            </a:ext>
          </a:extLst>
        </p:cNvPr>
        <p:cNvGrpSpPr/>
        <p:nvPr/>
      </p:nvGrpSpPr>
      <p:grpSpPr>
        <a:xfrm>
          <a:off x="0" y="0"/>
          <a:ext cx="0" cy="0"/>
          <a:chOff x="0" y="0"/>
          <a:chExt cx="0" cy="0"/>
        </a:xfrm>
      </p:grpSpPr>
      <p:sp>
        <p:nvSpPr>
          <p:cNvPr id="204" name="Google Shape;204;g22f13355470_0_53">
            <a:extLst>
              <a:ext uri="{FF2B5EF4-FFF2-40B4-BE49-F238E27FC236}">
                <a16:creationId xmlns:a16="http://schemas.microsoft.com/office/drawing/2014/main" id="{694B0835-B570-321E-4ECC-B88093976518}"/>
              </a:ext>
            </a:extLst>
          </p:cNvPr>
          <p:cNvSpPr txBox="1">
            <a:spLocks noGrp="1"/>
          </p:cNvSpPr>
          <p:nvPr>
            <p:ph type="sldNum" idx="12"/>
          </p:nvPr>
        </p:nvSpPr>
        <p:spPr>
          <a:xfrm>
            <a:off x="6553200" y="6373546"/>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050"/>
              <a:buFont typeface="Arial"/>
              <a:buNone/>
            </a:pPr>
            <a:fld id="{00000000-1234-1234-1234-123412341234}" type="slidenum">
              <a:rPr lang="en-IN"/>
              <a:t>23</a:t>
            </a:fld>
            <a:endParaRPr/>
          </a:p>
        </p:txBody>
      </p:sp>
      <p:sp>
        <p:nvSpPr>
          <p:cNvPr id="4" name="Title 3">
            <a:extLst>
              <a:ext uri="{FF2B5EF4-FFF2-40B4-BE49-F238E27FC236}">
                <a16:creationId xmlns:a16="http://schemas.microsoft.com/office/drawing/2014/main" id="{8E7248FB-4053-BF1E-DED4-5F42A19E8FE9}"/>
              </a:ext>
            </a:extLst>
          </p:cNvPr>
          <p:cNvSpPr>
            <a:spLocks noGrp="1"/>
          </p:cNvSpPr>
          <p:nvPr>
            <p:ph type="title"/>
          </p:nvPr>
        </p:nvSpPr>
        <p:spPr>
          <a:xfrm>
            <a:off x="220362" y="3900617"/>
            <a:ext cx="8229600" cy="914400"/>
          </a:xfrm>
        </p:spPr>
        <p:txBody>
          <a:bodyPr>
            <a:normAutofit/>
          </a:bodyPr>
          <a:lstStyle/>
          <a:p>
            <a:pPr algn="just"/>
            <a:endParaRPr lang="en-US" sz="2800" b="0"/>
          </a:p>
          <a:p>
            <a:pPr algn="just"/>
            <a:endParaRPr lang="en-US"/>
          </a:p>
        </p:txBody>
      </p:sp>
      <p:sp>
        <p:nvSpPr>
          <p:cNvPr id="2" name="TextBox 1">
            <a:extLst>
              <a:ext uri="{FF2B5EF4-FFF2-40B4-BE49-F238E27FC236}">
                <a16:creationId xmlns:a16="http://schemas.microsoft.com/office/drawing/2014/main" id="{242F7205-3BCA-BBB5-08FC-D8F84D021024}"/>
              </a:ext>
            </a:extLst>
          </p:cNvPr>
          <p:cNvSpPr txBox="1"/>
          <p:nvPr/>
        </p:nvSpPr>
        <p:spPr>
          <a:xfrm>
            <a:off x="519462" y="1380114"/>
            <a:ext cx="7633605"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3600" b="1" dirty="0">
                <a:latin typeface="Times New Roman"/>
              </a:rPr>
              <a:t>                       Conclusion</a:t>
            </a:r>
          </a:p>
          <a:p>
            <a:pPr algn="just"/>
            <a:endParaRPr lang="en-US" sz="3600" b="1">
              <a:latin typeface="Times New Roman"/>
            </a:endParaRPr>
          </a:p>
          <a:p>
            <a:pPr marL="228600" indent="-228600" algn="just">
              <a:buFont typeface=""/>
              <a:buChar char="•"/>
            </a:pPr>
            <a:r>
              <a:rPr lang="en-US" sz="1600" dirty="0"/>
              <a:t>The hybrid deep learning model developed in this project, combining ResNet-50 with Vision Transformer, has demonstrated superior performance in multiclass skin lesion classification on the HAM10000 dataset.</a:t>
            </a:r>
          </a:p>
          <a:p>
            <a:pPr marL="228600" indent="-228600" algn="just">
              <a:buFont typeface=""/>
              <a:buChar char="•"/>
            </a:pPr>
            <a:r>
              <a:rPr lang="en-US" sz="1600" dirty="0"/>
              <a:t>Through advanced augmentation and class balancing, the system achieved high accuracy, precision, recall, and F1-score, especially improving detection for rare and challenging lesion types.</a:t>
            </a:r>
          </a:p>
          <a:p>
            <a:pPr marL="228600" indent="-228600" algn="just">
              <a:buFont typeface=""/>
              <a:buChar char="•"/>
            </a:pPr>
            <a:r>
              <a:rPr lang="en-US" sz="1600" dirty="0"/>
              <a:t>These findings establish the proposed approach as both reliable and clinically valuable for automated skin cancer screening.</a:t>
            </a:r>
          </a:p>
          <a:p>
            <a:pPr marL="228600" indent="-228600" algn="just">
              <a:buFont typeface=""/>
              <a:buChar char="•"/>
            </a:pPr>
            <a:r>
              <a:rPr lang="en-US" sz="1600" dirty="0"/>
              <a:t>The project's outcomes highlight the potential of hybrid architectures to enable more accurate, scalable, and interpretable diagnostic tools in medical imaging.</a:t>
            </a:r>
          </a:p>
          <a:p>
            <a:pPr algn="just"/>
            <a:endParaRPr lang="en-US"/>
          </a:p>
          <a:p>
            <a:pPr algn="just"/>
            <a:endParaRPr lang="en-US"/>
          </a:p>
          <a:p>
            <a:pPr algn="just">
              <a:buFont typeface=""/>
              <a:buAutoNum type="arabicPeriod"/>
            </a:pPr>
            <a:endParaRPr lang="en-US"/>
          </a:p>
          <a:p>
            <a:pPr algn="just"/>
            <a:endParaRPr lang="en-US"/>
          </a:p>
        </p:txBody>
      </p:sp>
    </p:spTree>
    <p:extLst>
      <p:ext uri="{BB962C8B-B14F-4D97-AF65-F5344CB8AC3E}">
        <p14:creationId xmlns:p14="http://schemas.microsoft.com/office/powerpoint/2010/main" val="39254771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2">
          <a:extLst>
            <a:ext uri="{FF2B5EF4-FFF2-40B4-BE49-F238E27FC236}">
              <a16:creationId xmlns:a16="http://schemas.microsoft.com/office/drawing/2014/main" id="{983AC9D4-8F5B-0D65-7E66-82D5B7F8F049}"/>
            </a:ext>
          </a:extLst>
        </p:cNvPr>
        <p:cNvGrpSpPr/>
        <p:nvPr/>
      </p:nvGrpSpPr>
      <p:grpSpPr>
        <a:xfrm>
          <a:off x="0" y="0"/>
          <a:ext cx="0" cy="0"/>
          <a:chOff x="0" y="0"/>
          <a:chExt cx="0" cy="0"/>
        </a:xfrm>
      </p:grpSpPr>
      <p:sp>
        <p:nvSpPr>
          <p:cNvPr id="204" name="Google Shape;204;g22f13355470_0_53">
            <a:extLst>
              <a:ext uri="{FF2B5EF4-FFF2-40B4-BE49-F238E27FC236}">
                <a16:creationId xmlns:a16="http://schemas.microsoft.com/office/drawing/2014/main" id="{2A292FA1-4992-EF59-1BD1-DE3C4650853A}"/>
              </a:ext>
            </a:extLst>
          </p:cNvPr>
          <p:cNvSpPr txBox="1">
            <a:spLocks noGrp="1"/>
          </p:cNvSpPr>
          <p:nvPr>
            <p:ph type="sldNum" idx="12"/>
          </p:nvPr>
        </p:nvSpPr>
        <p:spPr>
          <a:xfrm>
            <a:off x="6553200" y="6373546"/>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050"/>
              <a:buFont typeface="Arial"/>
              <a:buNone/>
            </a:pPr>
            <a:fld id="{00000000-1234-1234-1234-123412341234}" type="slidenum">
              <a:rPr lang="en-IN"/>
              <a:t>24</a:t>
            </a:fld>
            <a:endParaRPr/>
          </a:p>
        </p:txBody>
      </p:sp>
      <p:sp>
        <p:nvSpPr>
          <p:cNvPr id="4" name="Title 3">
            <a:extLst>
              <a:ext uri="{FF2B5EF4-FFF2-40B4-BE49-F238E27FC236}">
                <a16:creationId xmlns:a16="http://schemas.microsoft.com/office/drawing/2014/main" id="{6C3DB008-882B-DD47-34CE-7639641C0863}"/>
              </a:ext>
            </a:extLst>
          </p:cNvPr>
          <p:cNvSpPr>
            <a:spLocks noGrp="1"/>
          </p:cNvSpPr>
          <p:nvPr>
            <p:ph type="title"/>
          </p:nvPr>
        </p:nvSpPr>
        <p:spPr>
          <a:xfrm>
            <a:off x="14417" y="2191267"/>
            <a:ext cx="9115166" cy="4024182"/>
          </a:xfrm>
        </p:spPr>
        <p:txBody>
          <a:bodyPr spcFirstLastPara="1" wrap="square" lIns="91425" tIns="45700" rIns="91425" bIns="45700" anchor="ctr" anchorCtr="0">
            <a:noAutofit/>
          </a:bodyPr>
          <a:lstStyle/>
          <a:p>
            <a:pPr marL="457200" indent="-457200" algn="just">
              <a:buAutoNum type="arabicPeriod"/>
            </a:pPr>
            <a:endParaRPr lang="en-US" sz="2000"/>
          </a:p>
          <a:p>
            <a:pPr marL="342900" indent="-342900" algn="just">
              <a:buAutoNum type="arabicPeriod"/>
            </a:pPr>
            <a:r>
              <a:rPr lang="en-US" sz="1600" b="0">
                <a:latin typeface="Arial"/>
              </a:rPr>
              <a:t>Large-scale Diverse Datasets: Expand training and validation using diverse, globally representative datasets to improve generalization across populations.</a:t>
            </a:r>
            <a:br>
              <a:rPr lang="en-US" sz="1600" b="0">
                <a:latin typeface="Arial"/>
              </a:rPr>
            </a:br>
            <a:endParaRPr lang="en-US" sz="1600" b="0">
              <a:latin typeface="Arial"/>
            </a:endParaRPr>
          </a:p>
          <a:p>
            <a:pPr marL="342900" indent="-342900" algn="just">
              <a:buAutoNum type="arabicPeriod"/>
            </a:pPr>
            <a:r>
              <a:rPr lang="en-US" sz="1600" b="0">
                <a:latin typeface="Arial"/>
              </a:rPr>
              <a:t>Lightweight and Efficient Models: Optimize the hybrid architecture for deployment on mobile and embedded devices to enable real-time dermatological screening in resource-limited areas.</a:t>
            </a:r>
            <a:br>
              <a:rPr lang="en-US" sz="1600" b="0">
                <a:latin typeface="Arial"/>
              </a:rPr>
            </a:br>
            <a:endParaRPr lang="en-US" sz="1600" b="0">
              <a:latin typeface="Arial"/>
            </a:endParaRPr>
          </a:p>
          <a:p>
            <a:pPr marL="342900" indent="-342900" algn="just">
              <a:buAutoNum type="arabicPeriod"/>
            </a:pPr>
            <a:r>
              <a:rPr lang="en-US" sz="1600" b="0">
                <a:latin typeface="Arial"/>
              </a:rPr>
              <a:t>Clinical Trials and Deployment: Collaborate with healthcare providers to validate models in clinical settings and integrate into telemedicine platforms for improved access.</a:t>
            </a:r>
            <a:br>
              <a:rPr lang="en-US" sz="1600" b="0">
                <a:latin typeface="Arial"/>
              </a:rPr>
            </a:br>
            <a:endParaRPr lang="en-US" sz="1600" b="0">
              <a:latin typeface="Arial"/>
            </a:endParaRPr>
          </a:p>
          <a:p>
            <a:pPr marL="342900" indent="-342900" algn="just">
              <a:buAutoNum type="arabicPeriod"/>
            </a:pPr>
            <a:r>
              <a:rPr lang="en-US" sz="1600" b="0">
                <a:latin typeface="Arial"/>
              </a:rPr>
              <a:t>Explainability and Interpretability: Incorporate techniques such as Grad-CAM and attention visualization to make model decisions transparent and clinically trustworthy.</a:t>
            </a:r>
          </a:p>
          <a:p>
            <a:pPr marL="285750" indent="-285750" algn="l">
              <a:buAutoNum type="arabicPeriod"/>
            </a:pPr>
            <a:endParaRPr lang="en-US" sz="2000" b="0"/>
          </a:p>
          <a:p>
            <a:endParaRPr lang="en-US"/>
          </a:p>
        </p:txBody>
      </p:sp>
      <p:sp>
        <p:nvSpPr>
          <p:cNvPr id="2" name="TextBox 1">
            <a:extLst>
              <a:ext uri="{FF2B5EF4-FFF2-40B4-BE49-F238E27FC236}">
                <a16:creationId xmlns:a16="http://schemas.microsoft.com/office/drawing/2014/main" id="{C5539A2E-DADA-A302-C44A-CF8EE0813C13}"/>
              </a:ext>
            </a:extLst>
          </p:cNvPr>
          <p:cNvSpPr txBox="1"/>
          <p:nvPr/>
        </p:nvSpPr>
        <p:spPr>
          <a:xfrm>
            <a:off x="3066535" y="1542535"/>
            <a:ext cx="388619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a:latin typeface="Times New Roman"/>
              </a:rPr>
              <a:t>Future Work</a:t>
            </a:r>
            <a:endParaRPr lang="en-US" sz="3600"/>
          </a:p>
        </p:txBody>
      </p:sp>
    </p:spTree>
    <p:extLst>
      <p:ext uri="{BB962C8B-B14F-4D97-AF65-F5344CB8AC3E}">
        <p14:creationId xmlns:p14="http://schemas.microsoft.com/office/powerpoint/2010/main" val="34988919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2">
          <a:extLst>
            <a:ext uri="{FF2B5EF4-FFF2-40B4-BE49-F238E27FC236}">
              <a16:creationId xmlns:a16="http://schemas.microsoft.com/office/drawing/2014/main" id="{805E5909-6EAC-D6D6-AB38-307929D92B31}"/>
            </a:ext>
          </a:extLst>
        </p:cNvPr>
        <p:cNvGrpSpPr/>
        <p:nvPr/>
      </p:nvGrpSpPr>
      <p:grpSpPr>
        <a:xfrm>
          <a:off x="0" y="0"/>
          <a:ext cx="0" cy="0"/>
          <a:chOff x="0" y="0"/>
          <a:chExt cx="0" cy="0"/>
        </a:xfrm>
      </p:grpSpPr>
      <p:sp>
        <p:nvSpPr>
          <p:cNvPr id="204" name="Google Shape;204;g22f13355470_0_53">
            <a:extLst>
              <a:ext uri="{FF2B5EF4-FFF2-40B4-BE49-F238E27FC236}">
                <a16:creationId xmlns:a16="http://schemas.microsoft.com/office/drawing/2014/main" id="{452DC71B-C0A2-5843-FF1B-E99BACE6F227}"/>
              </a:ext>
            </a:extLst>
          </p:cNvPr>
          <p:cNvSpPr txBox="1">
            <a:spLocks noGrp="1"/>
          </p:cNvSpPr>
          <p:nvPr>
            <p:ph type="sldNum" idx="12"/>
          </p:nvPr>
        </p:nvSpPr>
        <p:spPr>
          <a:xfrm>
            <a:off x="6553200" y="6373546"/>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050"/>
              <a:buFont typeface="Arial"/>
              <a:buNone/>
            </a:pPr>
            <a:fld id="{00000000-1234-1234-1234-123412341234}" type="slidenum">
              <a:rPr lang="en-IN"/>
              <a:t>25</a:t>
            </a:fld>
            <a:endParaRPr/>
          </a:p>
        </p:txBody>
      </p:sp>
      <p:sp>
        <p:nvSpPr>
          <p:cNvPr id="4" name="Title 3">
            <a:extLst>
              <a:ext uri="{FF2B5EF4-FFF2-40B4-BE49-F238E27FC236}">
                <a16:creationId xmlns:a16="http://schemas.microsoft.com/office/drawing/2014/main" id="{31FA3C66-742D-75F6-16E5-4C71A476512D}"/>
              </a:ext>
            </a:extLst>
          </p:cNvPr>
          <p:cNvSpPr>
            <a:spLocks noGrp="1"/>
          </p:cNvSpPr>
          <p:nvPr>
            <p:ph type="title"/>
          </p:nvPr>
        </p:nvSpPr>
        <p:spPr>
          <a:xfrm>
            <a:off x="271756" y="4118423"/>
            <a:ext cx="8229600" cy="914400"/>
          </a:xfrm>
        </p:spPr>
        <p:txBody>
          <a:bodyPr spcFirstLastPara="1" wrap="square" lIns="91425" tIns="45700" rIns="91425" bIns="45700" anchor="ctr" anchorCtr="0">
            <a:noAutofit/>
          </a:bodyPr>
          <a:lstStyle/>
          <a:p>
            <a:pPr marL="285750" indent="-285750" algn="l">
              <a:buFont typeface="Arial"/>
              <a:buChar char="•"/>
            </a:pPr>
            <a:r>
              <a:rPr lang="en-US" sz="1600" b="0" err="1">
                <a:latin typeface="Arial"/>
              </a:rPr>
              <a:t>Tschandl</a:t>
            </a:r>
            <a:r>
              <a:rPr lang="en-US" sz="1600" b="0">
                <a:latin typeface="Arial"/>
              </a:rPr>
              <a:t> et al. (2018) – Introduced HAM10000 dataset for skin lesion classification.</a:t>
            </a:r>
            <a:endParaRPr lang="en-US" sz="1600">
              <a:latin typeface="Arial"/>
            </a:endParaRPr>
          </a:p>
          <a:p>
            <a:pPr marL="285750" indent="-285750" algn="l">
              <a:buFont typeface="Arial"/>
              <a:buChar char="•"/>
            </a:pPr>
            <a:r>
              <a:rPr lang="en-US" sz="1600" b="0">
                <a:latin typeface="Arial"/>
              </a:rPr>
              <a:t>Esteva et al. (2017) – Achieved dermatologist-level skin cancer detection using CNNs.</a:t>
            </a:r>
          </a:p>
          <a:p>
            <a:pPr marL="285750" indent="-285750" algn="l">
              <a:buFont typeface="Arial"/>
              <a:buChar char="•"/>
            </a:pPr>
            <a:r>
              <a:rPr lang="en-US" sz="1600" b="0">
                <a:latin typeface="Arial"/>
              </a:rPr>
              <a:t>Codella et al. (2019) – Organized ISIC challenge for melanoma detection.</a:t>
            </a:r>
          </a:p>
          <a:p>
            <a:pPr marL="285750" indent="-285750" algn="l">
              <a:buFont typeface="Arial"/>
              <a:buChar char="•"/>
            </a:pPr>
            <a:r>
              <a:rPr lang="en-US" sz="1600" b="0" err="1">
                <a:latin typeface="Arial"/>
              </a:rPr>
              <a:t>Kassani</a:t>
            </a:r>
            <a:r>
              <a:rPr lang="en-US" sz="1600" b="0">
                <a:latin typeface="Arial"/>
              </a:rPr>
              <a:t> et al. (2020) – Proposed deep learning-based melanoma detection framework.</a:t>
            </a:r>
          </a:p>
          <a:p>
            <a:pPr marL="285750" indent="-285750" algn="l">
              <a:buFont typeface="Arial"/>
              <a:buChar char="•"/>
            </a:pPr>
            <a:r>
              <a:rPr lang="en-US" sz="1600" b="0">
                <a:latin typeface="Arial"/>
              </a:rPr>
              <a:t>Chandran &amp; Thomas (2022) – Developed CNN-SVM hybrid model for skin disease classification.</a:t>
            </a:r>
          </a:p>
          <a:p>
            <a:pPr marL="285750" indent="-285750" algn="l">
              <a:buFont typeface="Arial"/>
              <a:buChar char="•"/>
            </a:pPr>
            <a:r>
              <a:rPr lang="en-US" sz="1600" b="0">
                <a:latin typeface="Arial"/>
              </a:rPr>
              <a:t>Ahmed et al. (2022) – Provided a comprehensive review of DL in skin disease diagnosis.</a:t>
            </a:r>
          </a:p>
          <a:p>
            <a:pPr marL="285750" indent="-285750" algn="l">
              <a:buFont typeface="Arial"/>
              <a:buChar char="•"/>
            </a:pPr>
            <a:r>
              <a:rPr lang="en-US" sz="1600" b="0">
                <a:latin typeface="Arial"/>
              </a:rPr>
              <a:t>Mahbod et al. (2021) – Used multi-network ensemble transfer learning for lesion classification.</a:t>
            </a:r>
          </a:p>
          <a:p>
            <a:pPr marL="285750" indent="-285750" algn="l">
              <a:buFont typeface="Arial"/>
              <a:buChar char="•"/>
            </a:pPr>
            <a:r>
              <a:rPr lang="en-US" sz="1600" b="0">
                <a:latin typeface="Arial"/>
              </a:rPr>
              <a:t>Xie et al. (2020) – Applied attention-based CNNs for skin lesion recognition.</a:t>
            </a:r>
          </a:p>
          <a:p>
            <a:pPr marL="285750" indent="-285750" algn="l">
              <a:buFont typeface="Arial"/>
              <a:buChar char="•"/>
            </a:pPr>
            <a:r>
              <a:rPr lang="en-US" sz="1600" b="0">
                <a:latin typeface="Arial"/>
              </a:rPr>
              <a:t>Almaraz-Damian et al. (2020) – Proposed feature fusion (handcrafted + DL) for melanoma vs nevus.</a:t>
            </a:r>
          </a:p>
          <a:p>
            <a:pPr marL="285750" indent="-285750" algn="l">
              <a:buFont typeface="Arial"/>
              <a:buChar char="•"/>
            </a:pPr>
            <a:r>
              <a:rPr lang="en-US" sz="1600" b="0">
                <a:latin typeface="Arial"/>
              </a:rPr>
              <a:t>Yadav &amp; Jadhav (2023) – Compared transfer learning methods for dermatology imaging.</a:t>
            </a:r>
          </a:p>
          <a:p>
            <a:pPr marL="285750" indent="-285750" algn="l">
              <a:buFont typeface="Arial"/>
              <a:buChar char="•"/>
            </a:pPr>
            <a:r>
              <a:rPr lang="en-US" sz="1600" b="0">
                <a:latin typeface="Arial"/>
              </a:rPr>
              <a:t>Tajbakhsh et al. (2016) – Studied fine-tuning vs full training of CNNs for medical imaging.</a:t>
            </a:r>
            <a:endParaRPr lang="en-US" sz="1600">
              <a:latin typeface="Arial"/>
            </a:endParaRPr>
          </a:p>
          <a:p>
            <a:endParaRPr lang="en-US"/>
          </a:p>
        </p:txBody>
      </p:sp>
      <p:sp>
        <p:nvSpPr>
          <p:cNvPr id="2" name="TextBox 1">
            <a:extLst>
              <a:ext uri="{FF2B5EF4-FFF2-40B4-BE49-F238E27FC236}">
                <a16:creationId xmlns:a16="http://schemas.microsoft.com/office/drawing/2014/main" id="{3B4009EC-16AF-CB41-F5FD-F30AB9AF8CEF}"/>
              </a:ext>
            </a:extLst>
          </p:cNvPr>
          <p:cNvSpPr txBox="1"/>
          <p:nvPr/>
        </p:nvSpPr>
        <p:spPr>
          <a:xfrm>
            <a:off x="3296294" y="1392029"/>
            <a:ext cx="27432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dirty="0">
                <a:solidFill>
                  <a:schemeClr val="tx2">
                    <a:lumMod val="10000"/>
                  </a:schemeClr>
                </a:solidFill>
                <a:latin typeface="Times New Roman"/>
              </a:rPr>
              <a:t>References</a:t>
            </a:r>
          </a:p>
        </p:txBody>
      </p:sp>
    </p:spTree>
    <p:extLst>
      <p:ext uri="{BB962C8B-B14F-4D97-AF65-F5344CB8AC3E}">
        <p14:creationId xmlns:p14="http://schemas.microsoft.com/office/powerpoint/2010/main" val="14162268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2">
          <a:extLst>
            <a:ext uri="{FF2B5EF4-FFF2-40B4-BE49-F238E27FC236}">
              <a16:creationId xmlns:a16="http://schemas.microsoft.com/office/drawing/2014/main" id="{BCF12B5F-2F7D-FE78-F6DF-05A134CC924B}"/>
            </a:ext>
          </a:extLst>
        </p:cNvPr>
        <p:cNvGrpSpPr/>
        <p:nvPr/>
      </p:nvGrpSpPr>
      <p:grpSpPr>
        <a:xfrm>
          <a:off x="0" y="0"/>
          <a:ext cx="0" cy="0"/>
          <a:chOff x="0" y="0"/>
          <a:chExt cx="0" cy="0"/>
        </a:xfrm>
      </p:grpSpPr>
      <p:sp>
        <p:nvSpPr>
          <p:cNvPr id="203" name="Google Shape;203;g22f13355470_0_53">
            <a:extLst>
              <a:ext uri="{FF2B5EF4-FFF2-40B4-BE49-F238E27FC236}">
                <a16:creationId xmlns:a16="http://schemas.microsoft.com/office/drawing/2014/main" id="{8967920E-3DDB-F05B-A8A9-DD893F50B8C7}"/>
              </a:ext>
            </a:extLst>
          </p:cNvPr>
          <p:cNvSpPr txBox="1">
            <a:spLocks noGrp="1"/>
          </p:cNvSpPr>
          <p:nvPr>
            <p:ph type="title"/>
          </p:nvPr>
        </p:nvSpPr>
        <p:spPr>
          <a:xfrm flipH="1">
            <a:off x="392545" y="1902691"/>
            <a:ext cx="8229600" cy="3648364"/>
          </a:xfrm>
          <a:prstGeom prst="rect">
            <a:avLst/>
          </a:prstGeom>
        </p:spPr>
        <p:txBody>
          <a:bodyPr spcFirstLastPara="1" wrap="square" lIns="91425" tIns="45700" rIns="91425" bIns="45700" anchor="ctr" anchorCtr="0">
            <a:normAutofit/>
          </a:bodyPr>
          <a:lstStyle/>
          <a:p>
            <a:r>
              <a:rPr lang="en-IN">
                <a:latin typeface="Times New Roman"/>
                <a:cs typeface="Times New Roman"/>
              </a:rPr>
              <a:t>Thank you!</a:t>
            </a:r>
            <a:endParaRPr lang="en-IN">
              <a:latin typeface="Times New Roman" panose="02020603050405020304" pitchFamily="18" charset="0"/>
              <a:cs typeface="Times New Roman" panose="02020603050405020304" pitchFamily="18" charset="0"/>
            </a:endParaRPr>
          </a:p>
        </p:txBody>
      </p:sp>
      <p:sp>
        <p:nvSpPr>
          <p:cNvPr id="204" name="Google Shape;204;g22f13355470_0_53">
            <a:extLst>
              <a:ext uri="{FF2B5EF4-FFF2-40B4-BE49-F238E27FC236}">
                <a16:creationId xmlns:a16="http://schemas.microsoft.com/office/drawing/2014/main" id="{ECA53B8B-B94B-520D-6B49-5051C9FFD697}"/>
              </a:ext>
            </a:extLst>
          </p:cNvPr>
          <p:cNvSpPr txBox="1">
            <a:spLocks noGrp="1"/>
          </p:cNvSpPr>
          <p:nvPr>
            <p:ph type="sldNum" idx="12"/>
          </p:nvPr>
        </p:nvSpPr>
        <p:spPr>
          <a:xfrm>
            <a:off x="6553200" y="6373546"/>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050"/>
              <a:buFont typeface="Arial"/>
              <a:buNone/>
            </a:pPr>
            <a:fld id="{00000000-1234-1234-1234-123412341234}" type="slidenum">
              <a:rPr lang="en-IN"/>
              <a:t>26</a:t>
            </a:fld>
            <a:endParaRPr/>
          </a:p>
        </p:txBody>
      </p:sp>
    </p:spTree>
    <p:extLst>
      <p:ext uri="{BB962C8B-B14F-4D97-AF65-F5344CB8AC3E}">
        <p14:creationId xmlns:p14="http://schemas.microsoft.com/office/powerpoint/2010/main" val="110011274"/>
      </p:ext>
    </p:extLst>
  </p:cSld>
  <p:clrMapOvr>
    <a:masterClrMapping/>
  </p:clrMapOvr>
</p:sld>
</file>

<file path=ppt/theme/theme1.xml><?xml version="1.0" encoding="utf-8"?>
<a:theme xmlns:a="http://schemas.openxmlformats.org/drawingml/2006/main" name="MPST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1"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E8159B4-5955-46A8-8687-1BC1BC6A7710}">
  <we:reference id="wa200005566" version="1.0.0.0" store="en-US" storeType="omex"/>
  <we:alternateReferences>
    <we:reference id="wa200005566" version="1.0.0.0" store="omex"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56</TotalTime>
  <Words>1678</Words>
  <Application>Microsoft Office PowerPoint</Application>
  <PresentationFormat>On-screen Show (4:3)</PresentationFormat>
  <Paragraphs>207</Paragraphs>
  <Slides>26</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Noto Sans Symbols</vt:lpstr>
      <vt:lpstr>Times New Roman</vt:lpstr>
      <vt:lpstr>fkGroteskNeue</vt:lpstr>
      <vt:lpstr>Arial,Sans-Serif</vt:lpstr>
      <vt:lpstr>Calibri</vt:lpstr>
      <vt:lpstr>Arial</vt:lpstr>
      <vt:lpstr>Segoe UI</vt:lpstr>
      <vt:lpstr>MPSTME</vt:lpstr>
      <vt:lpstr>   Project Review-III Presentation on “Skin Disease prediction using Hybrid deep learning algorithm” By     1. Swarup Sonawane (A231) 2.Krishna Sad (A268) 3.Kartik Mohata (A273)   Under the Guidance of Prof. Atul Patil  </vt:lpstr>
      <vt:lpstr>Outline</vt:lpstr>
      <vt:lpstr>Introduction</vt:lpstr>
      <vt:lpstr>PowerPoint Presentation</vt:lpstr>
      <vt:lpstr> Early and accurate diagnosis of skin disease—especially melanoma—is vital for patient survival but remains difficult due to the similar appearance of benign and malignant lesions. Manual assessment by dermatologists is time-consuming, subjective, and limited by availability. Deep learning offers automated diagnosis but struggles with data imbalance and capturing both local and global features. While CNNs capture local texture and patterns, Vision Transformers excel at modeling global context but require larger datasets. A hybrid approach combining ResNet-50 and Vision Transformer can address these limitations, providing a scalable, interpretable system that balances fine-grained local details with overall image context to improve classification accuracy across all lesion types, including rare and challenging categories. This project aims to leverage this hybrid model on the HAM10000 dermoscopic image dataset to support dermatologists in faster and more accurate skin disease classification.   </vt:lpstr>
      <vt:lpstr>Objectives of Project</vt:lpstr>
      <vt:lpstr>System Architecture / Workflow</vt:lpstr>
      <vt:lpstr>Dataset: HAM10000 (Human Against Machine with 10000 training images) 10,015 dermoscopic images, 7 classes:           1. NV (Melanocytic Nevi)           2.MEL (Melanoma)           3.BKL (Benign keratosis-like)           4. BCC (Basal Cell Carcinoma)           5.AKIEC (Actinic Keratoses)           6.VASC (Vascular Lesions)           7.DF (Dermatofibroma) 2.   Metadata: Age, Sex, Localization (body part ) 3.   Challenges: Class imbalance, varied image resolutions </vt:lpstr>
      <vt:lpstr>PowerPoint Presentation</vt:lpstr>
      <vt:lpstr> Class Distribution: NV &gt;&gt; MEL, AKIEC, VASC (imbalance problem) Age Distribution: Most patients 20–65 years Gender Split: ~60% female, ~40% male (approx.) Lesion Localization: Most lesions appear on trunk, lower limbs Key Insight: Melanoma median age higher in males vs females   </vt:lpstr>
      <vt:lpstr>    Handling Missing Data: Filled missing ages with mean value.    Image Preprocessing:         Resized to 224×224×3 Normalized pixel values (0–1 range) Checked for duplicates.    Augmentation:         Rotation (±20°).         Horizontal &amp; vertical flip.         Zoom in/out (±10%).         Shear transformation .   Balancing Classes:         Target = 1500 images/class.         Used augmentation for minority classes.         Down-sampled majority classes. </vt:lpstr>
      <vt:lpstr>PowerPoint Presentation</vt:lpstr>
      <vt:lpstr> </vt:lpstr>
      <vt:lpstr> </vt:lpstr>
      <vt:lpstr> </vt:lpstr>
      <vt:lpstr> </vt:lpstr>
      <vt:lpstr>PowerPoint Presentation</vt:lpstr>
      <vt:lpstr> </vt:lpstr>
      <vt:lpstr> </vt:lpstr>
      <vt:lpstr> </vt:lpstr>
      <vt:lpstr> </vt:lpstr>
      <vt:lpstr> </vt:lpstr>
      <vt:lpstr> </vt:lpstr>
      <vt:lpstr> Large-scale Diverse Datasets: Expand training and validation using diverse, globally representative datasets to improve generalization across populations.  Lightweight and Efficient Models: Optimize the hybrid architecture for deployment on mobile and embedded devices to enable real-time dermatological screening in resource-limited areas.  Clinical Trials and Deployment: Collaborate with healthcare providers to validate models in clinical settings and integrate into telemedicine platforms for improved access.  Explainability and Interpretability: Incorporate techniques such as Grad-CAM and attention visualization to make model decisions transparent and clinically trustworthy.  </vt:lpstr>
      <vt:lpstr>Tschandl et al. (2018) – Introduced HAM10000 dataset for skin lesion classification. Esteva et al. (2017) – Achieved dermatologist-level skin cancer detection using CNNs. Codella et al. (2019) – Organized ISIC challenge for melanoma detection. Kassani et al. (2020) – Proposed deep learning-based melanoma detection framework. Chandran &amp; Thomas (2022) – Developed CNN-SVM hybrid model for skin disease classification. Ahmed et al. (2022) – Provided a comprehensive review of DL in skin disease diagnosis. Mahbod et al. (2021) – Used multi-network ensemble transfer learning for lesion classification. Xie et al. (2020) – Applied attention-based CNNs for skin lesion recognition. Almaraz-Damian et al. (2020) – Proposed feature fusion (handcrafted + DL) for melanoma vs nevus. Yadav &amp; Jadhav (2023) – Compared transfer learning methods for dermatology imaging. Tajbakhsh et al. (2016) – Studied fine-tuning vs full training of CNNs for medical imaging.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Presentation on “TITLE OF PROJECT/DOMAIN”  By Name of Student   Under the Guidance of Name of Guide </dc:title>
  <dc:creator>Dhirendra Mishra</dc:creator>
  <cp:lastModifiedBy>swarup ms</cp:lastModifiedBy>
  <cp:revision>322</cp:revision>
  <dcterms:created xsi:type="dcterms:W3CDTF">2017-04-11T09:48:28Z</dcterms:created>
  <dcterms:modified xsi:type="dcterms:W3CDTF">2025-11-04T05:00:38Z</dcterms:modified>
</cp:coreProperties>
</file>